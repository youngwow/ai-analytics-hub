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92fd0a28a4a64" /><Relationship Type="http://schemas.openxmlformats.org/officeDocument/2006/relationships/extended-properties" Target="/docProps/app.xml" Id="R08e75bf2d35d4269" /><Relationship Type="http://schemas.openxmlformats.org/officeDocument/2006/relationships/officeDocument" Target="/ppt/presentation.xml" Id="R841c5053ec2147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90731bbac74b14"/>
  </p:sldMasterIdLst>
  <p:notesMasterIdLst>
    <p:notesMasterId xmlns:r="http://schemas.openxmlformats.org/officeDocument/2006/relationships" r:id="R80e3a95c89864e93"/>
  </p:notesMasterIdLst>
  <p:sldIdLst>
    <p:sldId xmlns:r="http://schemas.openxmlformats.org/officeDocument/2006/relationships" id="256" r:id="Re62ae59955cc49ab"/>
    <p:sldId xmlns:r="http://schemas.openxmlformats.org/officeDocument/2006/relationships" id="257" r:id="R8ae6dbf49285431d"/>
    <p:sldId xmlns:r="http://schemas.openxmlformats.org/officeDocument/2006/relationships" id="258" r:id="R74500834dfb74af7"/>
    <p:sldId xmlns:r="http://schemas.openxmlformats.org/officeDocument/2006/relationships" id="259" r:id="Rc2147b8c03f84b2e"/>
    <p:sldId xmlns:r="http://schemas.openxmlformats.org/officeDocument/2006/relationships" id="260" r:id="R45f7521fd8e34f53"/>
    <p:sldId xmlns:r="http://schemas.openxmlformats.org/officeDocument/2006/relationships" id="261" r:id="Ra7f0c2291e3c4ad5"/>
    <p:sldId xmlns:r="http://schemas.openxmlformats.org/officeDocument/2006/relationships" id="262" r:id="Rf6eb2ac606eb4a0b"/>
    <p:sldId xmlns:r="http://schemas.openxmlformats.org/officeDocument/2006/relationships" id="263" r:id="Rcd5be7a75c9b49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b9c842782844a3" /><Relationship Type="http://schemas.openxmlformats.org/officeDocument/2006/relationships/slideMaster" Target="/ppt/slideMasters/slideMaster1.xml" Id="R7b90731bbac74b14" /><Relationship Type="http://schemas.openxmlformats.org/officeDocument/2006/relationships/notesMaster" Target="/ppt/notesMasters/notesMaster1.xml" Id="R80e3a95c89864e93" /><Relationship Type="http://schemas.openxmlformats.org/officeDocument/2006/relationships/presProps" Target="/ppt/presProps.xml" Id="R53db8852a5704303" /><Relationship Type="http://schemas.openxmlformats.org/officeDocument/2006/relationships/tableStyles" Target="/ppt/tableStyles.xml" Id="R7960053b672f40ee" /><Relationship Type="http://schemas.openxmlformats.org/officeDocument/2006/relationships/slide" Target="/ppt/slides/slide1.xml" Id="Re62ae59955cc49ab" /><Relationship Type="http://schemas.openxmlformats.org/officeDocument/2006/relationships/slide" Target="/ppt/slides/slide2.xml" Id="R8ae6dbf49285431d" /><Relationship Type="http://schemas.openxmlformats.org/officeDocument/2006/relationships/slide" Target="/ppt/slides/slide3.xml" Id="R74500834dfb74af7" /><Relationship Type="http://schemas.openxmlformats.org/officeDocument/2006/relationships/slide" Target="/ppt/slides/slide4.xml" Id="Rc2147b8c03f84b2e" /><Relationship Type="http://schemas.openxmlformats.org/officeDocument/2006/relationships/slide" Target="/ppt/slides/slide5.xml" Id="R45f7521fd8e34f53" /><Relationship Type="http://schemas.openxmlformats.org/officeDocument/2006/relationships/slide" Target="/ppt/slides/slide6.xml" Id="Ra7f0c2291e3c4ad5" /><Relationship Type="http://schemas.openxmlformats.org/officeDocument/2006/relationships/slide" Target="/ppt/slides/slide7.xml" Id="Rf6eb2ac606eb4a0b" /><Relationship Type="http://schemas.openxmlformats.org/officeDocument/2006/relationships/slide" Target="/ppt/slides/slide8.xml" Id="Rcd5be7a75c9b49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aa4a31b11f4e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085f16ef7044ce" /><Relationship Type="http://schemas.openxmlformats.org/officeDocument/2006/relationships/notesMaster" Target="/ppt/notesMasters/notesMaster1.xml" Id="Ref635b837d6a43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473318b65242ca" /><Relationship Type="http://schemas.openxmlformats.org/officeDocument/2006/relationships/notesMaster" Target="/ppt/notesMasters/notesMaster1.xml" Id="R9d9d5ab7574f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34f8f0adb4440c" /><Relationship Type="http://schemas.openxmlformats.org/officeDocument/2006/relationships/notesMaster" Target="/ppt/notesMasters/notesMaster1.xml" Id="Re600c5a931834c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ed7d2f005446b" /><Relationship Type="http://schemas.openxmlformats.org/officeDocument/2006/relationships/notesMaster" Target="/ppt/notesMasters/notesMaster1.xml" Id="R57f90c84e01341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c79f70bf6849ba" /><Relationship Type="http://schemas.openxmlformats.org/officeDocument/2006/relationships/notesMaster" Target="/ppt/notesMasters/notesMaster1.xml" Id="R810e75d746a1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9a4498bb4b4a1e" /><Relationship Type="http://schemas.openxmlformats.org/officeDocument/2006/relationships/notesMaster" Target="/ppt/notesMasters/notesMaster1.xml" Id="Rf9ba012e501249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aaa0ed714e4757" /><Relationship Type="http://schemas.openxmlformats.org/officeDocument/2006/relationships/notesMaster" Target="/ppt/notesMasters/notesMaster1.xml" Id="R1765d0ed77e242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c0a97f68614598" /><Relationship Type="http://schemas.openxmlformats.org/officeDocument/2006/relationships/notesMaster" Target="/ppt/notesMasters/notesMaster1.xml" Id="Rf6725e2862bc4a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 секунд. Команда Больных. GS Дайджест — интеллектуальный аналитический центр для PR и GR. Источники логотипов: https://gs-labs.ru/ ; https://www.zyfra.com/presskit/ ; https://itmo.ru/ ; https://ai.itmo.ru/. Визуальный шаблон: output/Большая_презентация/GS_ДАЙДЖЕСТ_АКТУАЛЬНЫЙ.pptx.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Сейчас PR и GR вручную обходят источники, оценивают материалы, сопоставляют публикации и версии НПА, а затем собирают результат в Excel. Это занимает 3–4 часа активной работы. GS Дайджест автоматизирует подготовку, но оставляет специалисту проверку фактов и подтверждение выпуска. Главная гипотеза — сократить ручное время без потери критичной информации и фактической точности. Источник: PRODUCT_REPORT.md, разделы 1–5.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Мы не собирали продукт по интуиции. Сначала зафиксировали доступную истину контекста из кейса, чата, созвона, Excel и исследования GS Labs. Из неё получили проблемы и гипотезы. Затем заранее спроектировали четыре бенчмарка и провели 21 эксперимент. Их результаты определили финальный MVP. Источник: PRODUCT_REPORT.md, разделы 0–7 и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минута 50 секунд. Перейти в живой продукт. Показать один путь: новый материал или обновление НПА, AI-анализ, объединение связанных публикаций, проверка PR/GR и подтверждение выпуска. Не показывать логин, настройки и второстепенные страницы.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B1 проверяет получение данных из реальных источников и закрывает базовое условие C0. B2 служит тренажёром для моделей и промптов и разрешает AI-развилки A1 и A4. B3 воспроизводит полный рабочий процесс во времени и проверяет H1, A2 и A3. B4 сравнивает результат системы с заранее зафиксированным контекстом GS Labs и проверяет содержательную часть H1–H5. Источник: PRODUCT_REPORT.md, разделы 8–12.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 секунд. Эксперименты не просто подтвердили продукт. Они убрали лишние и небезопасные варианты. Режим только с LLM-поиском не дал стабильного покрытия, а постоянный поиск поверх каждого цикла создавал лишний шум. Поэтому заданные источники остались основой, а LLM-поиск и доресёрч запускаются точечно. Один AI-проход оказался практичнее двух. Embeddings сузили область сравнения до семантически близких кандидатов. Автопубликацию и жёсткое разделение PR/GR отклонили. Источник: PRODUCT_REPORT.md, разделы 13–14.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Архитектура повторяет решения экспериментов. Адаптеры приводят источники к одному сырому документу. Один AI-проход выделяет сигнал и роль. Для важных и неполных сигналов ReAct LLM получает функцию поиска в веб. Embeddings находят кандидатов для событий, а LLM принимает финальное решение и ведёт историю НПА. В конце PR или GR проверяет спорное и подтверждает выпуск. Следующий шаг — сравнить Excel и MVP на одном реальном наборе и измерить активное время, пропуски и исправления. Источник: ARCHITECTURE.md и PRODUCT_REPORT.md, разделы 15–17.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 секунд. Денис отвечал за продуктовый контур, гипотезы, бенчмарки, эксперименты и доказательный пакет. Никита собрал парсинг, backend, frontend и дизайн. Роман исследовал предметную область, компанию, конкурентов и источники. Спасибо за внимание. Готовы ответить на ваши вопросы.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402c1ff1d4f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29cd6b81e34dea" /><Relationship Type="http://schemas.openxmlformats.org/officeDocument/2006/relationships/slideLayout" Target="/ppt/slideLayouts/slideLayout1.xml" Id="Rc8691acea12a43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691acea12a43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b660a8bfc4e7a" /><Relationship Type="http://schemas.openxmlformats.org/officeDocument/2006/relationships/image" Target="/ppt/media/image.png" Id="Rbd93d4f150654062" /><Relationship Type="http://schemas.openxmlformats.org/officeDocument/2006/relationships/image" Target="/ppt/media/image.svg" Id="R5c6ec18af7c14181" /><Relationship Type="http://schemas.openxmlformats.org/officeDocument/2006/relationships/image" Target="/ppt/media/image2.png" Id="R5074f1861c9d4270" /><Relationship Type="http://schemas.openxmlformats.org/officeDocument/2006/relationships/image" Target="/ppt/media/image3.png" Id="Ra06dc68c9a7c49a2" /><Relationship Type="http://schemas.openxmlformats.org/officeDocument/2006/relationships/image" Target="/ppt/media/image4.png" Id="Re6c4f1b7ed434fda" /><Relationship Type="http://schemas.openxmlformats.org/officeDocument/2006/relationships/image" Target="/ppt/media/image5.png" Id="R7d735efbe8094fd8" /><Relationship Type="http://schemas.openxmlformats.org/officeDocument/2006/relationships/notesSlide" Target="/ppt/notesSlides/notesSlide1.xml" Id="R6ba063cdfc354f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68e2b239d45ff" /><Relationship Type="http://schemas.openxmlformats.org/officeDocument/2006/relationships/image" Target="/ppt/media/image6.png" Id="Rd274936c4880475f" /><Relationship Type="http://schemas.openxmlformats.org/officeDocument/2006/relationships/image" Target="/ppt/media/image7.png" Id="Rdaf7bdb745494011" /><Relationship Type="http://schemas.openxmlformats.org/officeDocument/2006/relationships/image" Target="/ppt/media/image8.png" Id="Rfe23f2347d7e4d6f" /><Relationship Type="http://schemas.openxmlformats.org/officeDocument/2006/relationships/notesSlide" Target="/ppt/notesSlides/notesSlide2.xml" Id="R49f7345e17ad4a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36264685e44db" /><Relationship Type="http://schemas.openxmlformats.org/officeDocument/2006/relationships/image" Target="/ppt/media/image9.png" Id="R17be07086c9f4912" /><Relationship Type="http://schemas.openxmlformats.org/officeDocument/2006/relationships/image" Target="/ppt/media/image10.png" Id="R9faf095ab2be4b20" /><Relationship Type="http://schemas.openxmlformats.org/officeDocument/2006/relationships/image" Target="/ppt/media/image11.png" Id="R8e98d623a6e84eda" /><Relationship Type="http://schemas.openxmlformats.org/officeDocument/2006/relationships/notesSlide" Target="/ppt/notesSlides/notesSlide3.xml" Id="Rb1f5fe146baf4f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30949efd04730" /><Relationship Type="http://schemas.openxmlformats.org/officeDocument/2006/relationships/notesSlide" Target="/ppt/notesSlides/notesSlide4.xml" Id="Rf3cc16f3e03349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34363dbf74a4c" /><Relationship Type="http://schemas.openxmlformats.org/officeDocument/2006/relationships/image" Target="/ppt/media/image12.png" Id="Rc35f8ffc8ac54240" /><Relationship Type="http://schemas.openxmlformats.org/officeDocument/2006/relationships/image" Target="/ppt/media/image13.png" Id="Rfea30676b7de49ee" /><Relationship Type="http://schemas.openxmlformats.org/officeDocument/2006/relationships/image" Target="/ppt/media/image14.png" Id="R1636d55cc4f64c12" /><Relationship Type="http://schemas.openxmlformats.org/officeDocument/2006/relationships/notesSlide" Target="/ppt/notesSlides/notesSlide5.xml" Id="R90a1fb9d58de40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bf0c79ca54a38" /><Relationship Type="http://schemas.openxmlformats.org/officeDocument/2006/relationships/image" Target="/ppt/media/image15.png" Id="R8d01a17b2f504490" /><Relationship Type="http://schemas.openxmlformats.org/officeDocument/2006/relationships/image" Target="/ppt/media/image16.png" Id="R02e2ad1c10d54e2e" /><Relationship Type="http://schemas.openxmlformats.org/officeDocument/2006/relationships/image" Target="/ppt/media/image17.png" Id="Ra72a31fc5c324f86" /><Relationship Type="http://schemas.openxmlformats.org/officeDocument/2006/relationships/notesSlide" Target="/ppt/notesSlides/notesSlide6.xml" Id="Rc003bebb61314a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af37a74454715" /><Relationship Type="http://schemas.openxmlformats.org/officeDocument/2006/relationships/image" Target="/ppt/media/image18.png" Id="Rec544680d7bc48da" /><Relationship Type="http://schemas.openxmlformats.org/officeDocument/2006/relationships/image" Target="/ppt/media/image19.png" Id="R68d563f541ac48f6" /><Relationship Type="http://schemas.openxmlformats.org/officeDocument/2006/relationships/image" Target="/ppt/media/image20.png" Id="Rc238b0d294dd4214" /><Relationship Type="http://schemas.openxmlformats.org/officeDocument/2006/relationships/notesSlide" Target="/ppt/notesSlides/notesSlide7.xml" Id="Re2efb2a6bca642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5f4c8751447f8" /><Relationship Type="http://schemas.openxmlformats.org/officeDocument/2006/relationships/notesSlide" Target="/ppt/notesSlides/notesSlide8.xml" Id="Rd436e3c2fb0b40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3d4f150654062">
            <a:extLst>
              <a:ext uri="{96DAC541-7B7A-43D3-8B79-37D633B846F1}">
                <asvg:svgBlip xmlns:asvg="http://schemas.microsoft.com/office/drawing/2016/SVG/main" r:embed="R5c6ec18af7c1418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0375" y="476250"/>
            <a:ext cx="1047750" cy="3429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4f1861c9d4270"/>
          <a:stretch xmlns:a="http://schemas.openxmlformats.org/drawingml/2006/main"/>
        </p:blipFill>
        <p:spPr>
          <a:xfrm xmlns:a="http://schemas.openxmlformats.org/drawingml/2006/main">
            <a:off x="8115300" y="51766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dc68c9a7c49a2"/>
          <a:stretch xmlns:a="http://schemas.openxmlformats.org/drawingml/2006/main"/>
        </p:blipFill>
        <p:spPr>
          <a:xfrm xmlns:a="http://schemas.openxmlformats.org/drawingml/2006/main">
            <a:off x="9334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c4f1b7ed434fda"/>
          <a:stretch xmlns:a="http://schemas.openxmlformats.org/drawingml/2006/main"/>
        </p:blipFill>
        <p:spPr>
          <a:xfrm xmlns:a="http://schemas.openxmlformats.org/drawingml/2006/main">
            <a:off x="10306050" y="531813"/>
            <a:ext cx="1276350" cy="2127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1D7B8-09E7-4DC2-A78C-CE48E53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GS Дайджест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171F2-9709-4B21-8F2C-83BD8D0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Интеллектуальный аналитический центр для PR и GR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9F00CF-1E86-4EF1-BEC4-C31E3C55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43B02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1F292-0B54-4BD5-AFA8-4AE7F827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Собирает материалы и обновления НПА, готовит рабочую повестку для проверки специалистом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C2BE80-0739-4EFD-BBC1-AE85E937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57350"/>
            <a:ext cx="55435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BD2"/>
            </a:solidFill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35efbe8094fd8"/>
          <a:stretch xmlns:a="http://schemas.openxmlformats.org/drawingml/2006/main"/>
        </p:blipFill>
        <p:spPr>
          <a:xfrm xmlns:a="http://schemas.openxmlformats.org/drawingml/2006/main">
            <a:off x="6191250" y="1741487"/>
            <a:ext cx="5391150" cy="31083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5C1DC-28AE-4750-BFFB-F396105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Команда Больных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8E66C-AC03-4545-BC3B-3A83E5F7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AI Talent Hack · Demo Day</a:t>
            </a:r>
          </a:p>
        </p:txBody>
      </p:sp>
    </p:spTree>
    <p:extLst>
      <p:ext uri="{BB962C8B-B14F-4D97-AF65-F5344CB8AC3E}">
        <p14:creationId xmlns:p14="http://schemas.microsoft.com/office/powerpoint/2010/main" val="20670255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A652B8-4828-44DB-8967-5DBEDF1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Продукт, проблема и ценность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4936c4880475f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7bdb745494011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f2347d7e4d6f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87F034-44D8-4E3C-A1A4-3301165BD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7D38B-5524-4A16-BB49-B2D3D6E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  ·  GS ДАЙДЖЕСТ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34CCE-42B7-48E4-858A-1F0E9493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СЕЙЧАС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D5014B-60D8-4B17-B9C6-8A80C873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4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3–4 часа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24CD0-20DF-4D2A-A192-C57464C1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361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активной работы на один цикл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4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мониторинга и подготовки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28DABD-249C-4D09-8EBC-219F6B76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5E8C3-49B8-432B-8B9D-F9268F5C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37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Обойти СМИ, Telegram и сайты регуляторов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31DA6-0923-45EB-9E07-C7AEC6D2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2430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DCE11-F448-46C8-BC5F-1A663FD3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Отобрать важное и проверить факты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4CA71-B14E-42B3-B358-77705AC4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D56DB-32E6-4158-B71A-AE507A93E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291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6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Сопоставить повторы, события и версии НПА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48DC12-CCF2-49E9-937A-9DC31274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A30BF-4D83-41F3-869C-11EE4AFA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Собрать результат вручную в Excel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BAA73C-B4E2-4A1B-A364-65CFE1A6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304925"/>
            <a:ext cx="0" cy="433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F32776-FDB7-418C-A3EC-8EB4D80E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049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GS ДАЙДЖЕСТ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E5BB30-701E-4DE6-AEA1-F07253C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573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Система готовит материал,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23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3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специалист подтверждает 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4DCA36-FCC7-4192-9527-90675C54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Сбор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74C1CE-4A03-421E-A87E-580299A0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57500"/>
            <a:ext cx="430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Источники, поиск, ссылки и обновления НПА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36D91-640C-4E0A-9088-E7DA4277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337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02DFDE-5555-414E-B8D3-CC967108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9567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Анализ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15EB27-066A-45B1-B354-0D0FD36C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95675"/>
            <a:ext cx="430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Сигнал, факты, важность и зона интереса PR / GR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193D5-85CD-425A-8D25-99D6BA57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71925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4B7D4B-CA72-4FD8-A4FF-6CCC791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33850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Сопоставление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4BF93-60A8-4BD3-9BED-0A2AB0F5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430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Одно событие из нескольких публикаций и история НПА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0D85B2-F516-4AEF-A301-91CB9587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101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711538-D466-4975-A9FD-7E52A05B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72025"/>
            <a:ext cx="1733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Рабочий результат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568615-9304-4642-9FC4-C2943324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72025"/>
            <a:ext cx="4305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Очередь на проверку и один подтверждённый выпуск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4C481-06E4-4957-A074-3AB7C923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553075"/>
            <a:ext cx="61912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B80A12-48DA-43DA-94FC-CEEF71A8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724525"/>
            <a:ext cx="5734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23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Ценность: меньше ручного времени без потери критичного и фактической точности</a:t>
            </a:r>
          </a:p>
        </p:txBody>
      </p:sp>
    </p:spTree>
    <p:extLst>
      <p:ext uri="{BB962C8B-B14F-4D97-AF65-F5344CB8AC3E}">
        <p14:creationId xmlns:p14="http://schemas.microsoft.com/office/powerpoint/2010/main" val="6708335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A7BFC4-F808-4370-9B87-AC93E1E0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Как мы принимали решения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be07086c9f4912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af095ab2be4b20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8d623a6e84eda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BFCED-1760-4A91-A6F3-7797DDD5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D85538-F7DC-4531-81B9-815BADD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  ·  GS ДАЙДЖЕСТ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EAB9C-AFB6-4982-BD70-BA33D31E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57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Каждый элемент MVP связан с фактом, гипотезой и результатом проверки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D4F2D7-2C7C-4AA0-BAE8-7375151B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0987B-84DF-43E6-BFA5-CE2D16E6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AD949-E6EE-4500-96B5-B81956AD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9D090-7D06-4DCC-9C08-33A69427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3275"/>
            <a:ext cx="1771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Кейс, чат, созвон, Excel и исследование компании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27D3E-D7E8-4E27-A1E2-3C57AE8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1146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066B5-7731-4B90-B1F9-6491DD22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6734CD-CA4D-437D-9709-8AACEE3A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Проблемы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FA1131-B048-414E-9DAF-D9D96BD9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1467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ADBB6-657E-4D42-ACAF-986ADA82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43275"/>
            <a:ext cx="1771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Три потери в текущем процессе PR и GR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58E93-3B36-44D5-8CF1-2D89F267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146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701B32-C2A3-40DA-8BBF-F320EFC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90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7C0CC6-F2BC-41F4-B662-A4FD3C54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Гипотезы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B752C9-DC2B-408C-9867-6195BD4BB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11467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C8502-CF81-4548-B0F4-F965837A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43275"/>
            <a:ext cx="1771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Пять продуктовых и ключевые AI-развилки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F9EEA-8403-4BBF-B5AC-B45932F9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1146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49AED6-7596-42ED-A707-7C504735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90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2B8CD8-8FC1-4988-9CE5-27F197E1F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Проверка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C655A-52BD-4CFF-8778-9FE58285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1467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EEEF5-82F1-466E-A7C9-422EBB3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43275"/>
            <a:ext cx="1771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Четыре бенчмарка и 21 эксперимент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9E2CC-783E-40D0-8851-8FEE92B7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114675"/>
            <a:ext cx="371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BD38A2-8FF4-441D-ADE5-E4803A4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907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3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3E735-A885-4AB8-B249-40A62AE6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Решение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8EF22C-01B4-4ECF-9833-FFCDE5FA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1467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75E095-2C9B-4A16-84AC-6129C2D9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43275"/>
            <a:ext cx="1771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Финальный процесс, архитектура и границы 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85FD08-0511-427F-BA7E-3A62C0CB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83945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F25D54-869F-4EC2-9801-D5BD110A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077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Сначала зафиксировали контекст и гипотезы, затем проверили варианты на бенчмарках — и только после этого собрали финальный MVP</a:t>
            </a:r>
          </a:p>
        </p:txBody>
      </p:sp>
    </p:spTree>
    <p:extLst>
      <p:ext uri="{BB962C8B-B14F-4D97-AF65-F5344CB8AC3E}">
        <p14:creationId xmlns:p14="http://schemas.microsoft.com/office/powerpoint/2010/main" val="780382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B02D36-2E4D-4851-ACDD-C86CDA7C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1019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7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31012-3203-4B07-BE8E-43F4E227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3009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43B02A"/>
            </a:solidFill>
          </a:ln>
        </p:spPr>
      </p:sp>
    </p:spTree>
    <p:extLst>
      <p:ext uri="{BB962C8B-B14F-4D97-AF65-F5344CB8AC3E}">
        <p14:creationId xmlns:p14="http://schemas.microsoft.com/office/powerpoint/2010/main" val="1685509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74C3FE-DFFA-4799-9331-4F230D6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Четыре бенчмарка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5f8ffc8ac54240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30676b7de49ee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36d55cc4f64c12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36A1-0A3F-4CB6-814D-650C0359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D7BDB-56D9-4619-AA34-12C6563E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04  ·  GS ДАЙДЖЕСТ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F2F91-DDAA-412F-B080-1CC712DD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Компоненты, полный процесс и содержание результата проверялись отдельно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A64E2-F0AA-42D1-B957-314A72EC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89F73-F1CA-4DD2-AD21-BCF22BE0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BB788-A28C-47BD-99B4-F4CDD8CF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0B1F8-0BDB-4D3B-BC22-A8C7AC47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Реальные RSS, Telegram, сайты, API и LLM-поиск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6C8995-AF38-4AF2-887E-6230596E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4DADDB-9BB3-4E83-9831-FE6B4528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Полнота, даты, устойчивость, повторы и скорость получения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FF4EA2-3D04-4F7E-A16C-A9AD7078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ИТОГ ПО ГИПОТЕЗАМ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C612C-BCAD-4001-A36D-B84BC12C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1 базовое условие — C0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D124D-196B-463D-BBBF-D89B2AA3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67F336-1E9A-48F5-83B8-46EEEC4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76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CD003-F15B-4607-854E-31221592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336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AI-анализ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67188E-A67F-489B-8E46-C1D2D43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004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7BC7C-3FAC-44BE-9B72-3155F5CA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Размеченная корзина разных типов материалов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BF616C-2686-480F-97CD-757ABF2D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EE047-6CEB-4564-9CD2-801304A1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4822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Выбор модели и промптов, факты, важность, PR / GR и сжатие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E024E6-25B5-4183-8C91-6DE22E3D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816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ИТОГ ПО ГИПОТЕЗАМ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372131-D569-4FCA-A016-5790E05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6000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2 AI-развилки — A1, A4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05ED73-24D4-471F-8029-2AF2409F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383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9EE864-D9BD-4E1F-B317-EA7BEDB0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50753F-DA50-4161-ABA9-9431EBFB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336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E2E-сценарии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1CEFBE-2B18-4A26-B01D-F22D9257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0CA16-D3E4-4700-934F-7B98550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57575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Реалистичный поток материалов и изменений во времени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8E8DAD-F6EB-4F7A-A19A-185226FC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7CB869-74CC-4E21-BFD7-4E3C67F7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4822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Весь путь от входа до событий, НПА, проверки и выпуска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C5064D-E28A-4D67-89DD-FDAF3F29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7816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ИТОГ ПО ГИПОТЕЗАМ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E5E819-69F4-42E3-A597-CE7C77BD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6000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3 гипотезы — H1, A2, A3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1CEE08-64DD-4B40-AC52-A8B7269A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3835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C3A444-CE14-4A4D-90C5-57C7402C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76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B4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6CD7CB-73CE-46A7-B5D2-2272ECA6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336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65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Содержание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18D1106-1778-47CA-A452-CC842DF8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2324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E9A8F2-148B-43CD-BE5A-1077512D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57575"/>
            <a:ext cx="2324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Результат B3 и зафиксированный контекст GS Labs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0CA29-F514-4049-AEA9-16BC16A1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52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8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ПРОВЕРЯЕТ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9668AE-D5CB-4C7A-A2EB-A75FA2E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48225"/>
            <a:ext cx="23241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1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Сохранность критичного, рисков, фактов, ролей и стадий НПА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555364-336F-4E14-9E11-A1B0B5C6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81675"/>
            <a:ext cx="1809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ИТОГ ПО ГИПОТЕЗАМ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C6ED56-49DE-4C94-8F09-EAB1056D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00075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5 продуктовых — H1–H5</a:t>
            </a:r>
          </a:p>
        </p:txBody>
      </p:sp>
    </p:spTree>
    <p:extLst>
      <p:ext uri="{BB962C8B-B14F-4D97-AF65-F5344CB8AC3E}">
        <p14:creationId xmlns:p14="http://schemas.microsoft.com/office/powerpoint/2010/main" val="20139491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B211A4-07DF-4D55-B768-0875B871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Эксперименты изменили продукт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1a17b2f504490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2ad1c10d54e2e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a31fc5c324f86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040B7-CE43-4C93-9892-701E3569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89D72A-B6D4-4596-AF34-8FB9D885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05  ·  GS ДАЙДЖЕСТ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2E702-8255-43B0-B950-1E72306A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8204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9"/>
          </a:solidFill>
          <a:ln xmlns:a="http://schemas.openxmlformats.org/drawingml/2006/main" w="9525">
            <a:solidFill>
              <a:srgbClr val="17171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1AB748-314D-4CAF-A20F-CED4F424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23975"/>
            <a:ext cx="3657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ЧТО СРАВНИВАЛИ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A53D7D-3289-4D7D-9D63-EC3DE2E0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323975"/>
            <a:ext cx="2133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РЕЗУЛЬТАТ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8D7940-D529-41D2-B397-0E3FF9EF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323975"/>
            <a:ext cx="400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9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ЧТО ВОШЛО В MVP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A56F1-F89A-4D9D-8888-4EFEA06D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11076-625E-478D-BCBF-8A145D1D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Полная замена заданных источников LLM-поиском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2EBA05-C35C-46FA-B185-C338D662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8669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Отклонили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A398F8-BAA0-41BB-B2A3-95F2EB77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Постоянные источники и точечный LLM-поиск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E7287-236F-4BE6-88E3-A5A716D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FB2CF-BE17-4F9E-A97C-81FD4D12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Один или два AI-прохода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C45F78-F2BB-43CE-9DC3-EA2E3101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8605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Оставили один проход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1CD96-E6C4-4A0F-8963-8FFC7CB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860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GLM сразу выделяет сигнал и PR / GR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7BDE5C-5B9D-4EBB-B314-5B3398DB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440200-2741-4BA1-8543-745AE40D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Дедубликация всего банка или кандидатов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59C45D-A6EE-4F0F-A946-EC05D1D1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052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Оставили embeddings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9CF7FB-E137-4DEF-B49A-ACE7120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052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Семантические кандидаты и финальное LLM-решение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E7FAA6-39F1-4E55-B2DF-A81428BC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1F3"/>
          </a:solidFill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29E2C-0284-461B-8AC3-0F9EFD50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Публикация без проверки специалистом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D395A5-61DE-4588-A0AE-48B57C71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2435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Отклонили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595027-4F56-4983-8755-359F350C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243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Человек подтверждает факты и выпуск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1C6D5-0A5C-4FB4-8A0B-53FBD91A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204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E8E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E4B1F8-DCC1-40E6-A26A-DF6B4788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3657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Отдельные потоки PR и GR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0D401-C683-4DC1-83E7-8A2877DC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43500"/>
            <a:ext cx="2133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125" b="1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6E7078"/>
                </a:solidFill>
                <a:latin typeface="Inter"/>
                <a:ea typeface="Inter"/>
                <a:cs typeface="Inter"/>
              </a:rPr>
              <a:t>Отклонили жёсткое разделение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C5DEF8-9126-42C3-8857-E698C1FA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435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Общая очередь с ролевыми метками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1C6420-F550-4209-93EE-CEF828A44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323975"/>
            <a:ext cx="0" cy="463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DEA6BC-8E0D-4479-926A-6AEA02A0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323975"/>
            <a:ext cx="0" cy="463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</p:spTree>
    <p:extLst>
      <p:ext uri="{BB962C8B-B14F-4D97-AF65-F5344CB8AC3E}">
        <p14:creationId xmlns:p14="http://schemas.microsoft.com/office/powerpoint/2010/main" val="8213676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3CA566-3DD1-44CA-A3FE-A2CB9704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2025" b="0">
                <a:solidFill>
                  <a:srgbClr val="171719"/>
                </a:solidFill>
                <a:latin typeface="Inter"/>
                <a:ea typeface="Inter"/>
                <a:cs typeface="Inter"/>
              </a:rPr>
              <a:t>Итоговая архитектура после экспериментов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44680d7bc48da"/>
          <a:stretch xmlns:a="http://schemas.openxmlformats.org/drawingml/2006/main"/>
        </p:blipFill>
        <p:spPr>
          <a:xfrm xmlns:a="http://schemas.openxmlformats.org/drawingml/2006/main">
            <a:off x="8572500" y="536716"/>
            <a:ext cx="952500" cy="260068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563f541ac48f6"/>
          <a:stretch xmlns:a="http://schemas.openxmlformats.org/drawingml/2006/main"/>
        </p:blipFill>
        <p:spPr>
          <a:xfrm xmlns:a="http://schemas.openxmlformats.org/drawingml/2006/main">
            <a:off x="9715500" y="532116"/>
            <a:ext cx="704850" cy="193068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8b0d294dd4214"/>
          <a:stretch xmlns:a="http://schemas.openxmlformats.org/drawingml/2006/main"/>
        </p:blipFill>
        <p:spPr>
          <a:xfrm xmlns:a="http://schemas.openxmlformats.org/drawingml/2006/main">
            <a:off x="10582275" y="550069"/>
            <a:ext cx="1000125" cy="166688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ED3439-9570-4598-8D83-29CAAA8A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BD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20698-8FF8-4C2E-BCA6-F7E4AFAC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543675"/>
            <a:ext cx="2057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6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06  ·  GS ДАЙДЖЕСТ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F646B8-3660-41BC-87C9-6D84BB1E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9831F-BDB0-4CE3-A9EE-F63983C5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Источники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EAF6A-BC5E-4CAF-A512-89534B2E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9F777-65A2-4C50-9928-674CDC1A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28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RSS, Telegram, сайты, API, ссылки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289EF-E142-45F6-998E-F9E12A27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718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F03C7-3C39-47DF-8EEA-8079EF28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28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2AD3E4-DFD4-4275-9E7F-CBB093C8F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050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Сырые материалы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AE8949-8FC4-4A1C-ADA3-884A220E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718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E2FDF7-5F2A-4498-86E8-975D528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228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Оригинал, дата, источник, статус сбора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69C4F7-8D7C-4C52-B017-FDE52BE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718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0A5432-8EA9-429F-83DB-747EDD3C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28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DC590-5D20-4D53-B470-F696458E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AI-анализ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EAB0C0-F13C-46AE-842D-A582AC0F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718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72E917-22C8-4BF4-B834-D49C9C6A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Сигнал, факты, важность, PR / GR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041C4-5CFF-4AD5-8CD9-FFEFAC42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3E56C-718D-4687-B977-B4B5AC6E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702D6-BE7C-4F26-A03E-24A22F37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050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Доресёрч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21199D-D863-42A0-A2E8-C1BBAE8A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29273-6E54-4646-906E-4D8B8067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28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ReAct LLM + функция поиска в веб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2AF735-4807-4A69-B9B4-EC1BCAB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718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4D8D67-FE7B-4471-B8C0-D73DAC8C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28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F7B0C-7FAA-4258-9626-74594600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050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События и НПА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EABC7-DCD4-4464-A7A8-02B1F01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12F3BE-C6DF-44C9-AB18-1872464C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Embeddings, LLM и история изменений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8356C7-2344-49A5-B36D-94D6F1B7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9718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CBD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0D9A2C-7033-4B40-BDC4-144F3F5F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28800"/>
            <a:ext cx="428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DF65A7-BCD9-4EAC-A74D-08FB3297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05050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71719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171719"/>
                </a:solidFill>
                <a:latin typeface="Inter"/>
                <a:ea typeface="Inter"/>
                <a:cs typeface="Inter"/>
              </a:rPr>
              <a:t>Проверка и выпуск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CEDC42-7426-4F83-949A-25C72183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71800"/>
            <a:ext cx="1562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3B02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DEB6944-516D-418E-A37B-128ADDB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28975"/>
            <a:ext cx="1581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050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Общая очередь, версии и доставка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9977F1-3E60-4D02-B99A-30845143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820400" cy="1000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1719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0197E8-48DF-4CE4-9D40-3269858C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1492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Система автоматизирует подготовку рабочей повестки, а PR и GR сохраняют контроль над фактами и финальным выпуском</a:t>
            </a:r>
          </a:p>
        </p:txBody>
      </p:sp>
    </p:spTree>
    <p:extLst>
      <p:ext uri="{BB962C8B-B14F-4D97-AF65-F5344CB8AC3E}">
        <p14:creationId xmlns:p14="http://schemas.microsoft.com/office/powerpoint/2010/main" val="6063303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71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303845-EFDE-4E70-B8A1-B88EE5AD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КОМАНДА БОЛЬНЫХ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7478AF-B754-4B69-9BC2-4B52668A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095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Спасибо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за внимание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F3AA7-8B61-427C-9BF6-C924519C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Готовы ответить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43B02A"/>
                </a:solidFill>
                <a:latin typeface="Inter"/>
                <a:ea typeface="Inter"/>
                <a:cs typeface="Inter"/>
              </a:rPr>
              <a:t>на ваши вопросы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F65B2-8E0E-4170-93EA-98BA8393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609600"/>
            <a:ext cx="0" cy="557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13938-AB92-4A38-92E0-50685C48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8763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Денис Маликов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F5698-1AFA-4100-8413-C2512242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430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AI Product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2B209-4E1D-4EFB-A8FD-8BD89842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04975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Контекст и продуктовая логика, проблемы и гипотезы, четыре бенчмарка и эксперименты, решения по MVP, доказательный пакет и оформление репозитория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B1E40-EB2F-4D3D-99DF-C1DBE6DF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384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CF798-E22C-49E8-8469-E758C7D8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289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Никита Бояркин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76BF05-67A3-4FD7-93D6-E3661D1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95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AI Engineer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9DFF6-8207-499B-B6EF-A0444F92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457575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Адаптеры и скрипты парсинга, backend, frontend, дизайн и сборка рабочего MVP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8C970-78CF-4DA5-B291-E79094E2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278433-C71B-404B-B81E-C17ED236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81500"/>
            <a:ext cx="581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Роман Федосеев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2E93DB-DF09-4C08-8F26-79963AC3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482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43B02A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43B02A"/>
                </a:solidFill>
                <a:latin typeface="Inter"/>
                <a:ea typeface="Inter"/>
                <a:cs typeface="Inter"/>
              </a:rPr>
              <a:t>AI Engineer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AA0F0-ADC2-4567-B796-95D02E05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10175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00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00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Исследование компании и предметной области, обзор конкурентов, сбор и систематизация источников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912A3F-6126-44BA-8106-ED8C354C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419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E7078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6E7078"/>
                </a:solidFill>
                <a:latin typeface="Inter"/>
                <a:ea typeface="Inter"/>
                <a:cs typeface="Inter"/>
              </a:rPr>
              <a:t>GS Дайджест · Кейс ООО «Цифра» / GS Labs</a:t>
            </a:r>
          </a:p>
        </p:txBody>
      </p:sp>
    </p:spTree>
    <p:extLst>
      <p:ext uri="{BB962C8B-B14F-4D97-AF65-F5344CB8AC3E}">
        <p14:creationId xmlns:p14="http://schemas.microsoft.com/office/powerpoint/2010/main" val="12085951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2026-09-07T02:39:06.9300000Z</dcterms:created>
  <dcterms:modified xsi:type="dcterms:W3CDTF">2026-09-07T02:39:06.9300000Z</dcterms:modified>
</coreProperties>
</file>