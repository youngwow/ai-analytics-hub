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18661c1c9e4b9d" /><Relationship Type="http://schemas.openxmlformats.org/officeDocument/2006/relationships/extended-properties" Target="/docProps/app.xml" Id="R08356edf70994956" /><Relationship Type="http://schemas.openxmlformats.org/officeDocument/2006/relationships/officeDocument" Target="/ppt/presentation.xml" Id="R4b50679e9128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ee60cef0c14c60"/>
  </p:sldMasterIdLst>
  <p:notesMasterIdLst>
    <p:notesMasterId xmlns:r="http://schemas.openxmlformats.org/officeDocument/2006/relationships" r:id="R828365b14fe74907"/>
  </p:notesMasterIdLst>
  <p:sldIdLst>
    <p:sldId xmlns:r="http://schemas.openxmlformats.org/officeDocument/2006/relationships" id="256" r:id="Re21bbb869702465c"/>
    <p:sldId xmlns:r="http://schemas.openxmlformats.org/officeDocument/2006/relationships" id="257" r:id="Re0e92544d48245bc"/>
    <p:sldId xmlns:r="http://schemas.openxmlformats.org/officeDocument/2006/relationships" id="258" r:id="R9d3b148c32e44d4a"/>
    <p:sldId xmlns:r="http://schemas.openxmlformats.org/officeDocument/2006/relationships" id="259" r:id="R4ab69b4c66464b5d"/>
    <p:sldId xmlns:r="http://schemas.openxmlformats.org/officeDocument/2006/relationships" id="260" r:id="R0f449c12390e40e8"/>
    <p:sldId xmlns:r="http://schemas.openxmlformats.org/officeDocument/2006/relationships" id="261" r:id="Re91c195737174d4c"/>
    <p:sldId xmlns:r="http://schemas.openxmlformats.org/officeDocument/2006/relationships" id="262" r:id="R465852526f004311"/>
    <p:sldId xmlns:r="http://schemas.openxmlformats.org/officeDocument/2006/relationships" id="263" r:id="R28e87486d967400d"/>
    <p:sldId xmlns:r="http://schemas.openxmlformats.org/officeDocument/2006/relationships" id="264" r:id="Ra3b0db912d5b4e70"/>
    <p:sldId xmlns:r="http://schemas.openxmlformats.org/officeDocument/2006/relationships" id="265" r:id="R4694e456ccab4b85"/>
    <p:sldId xmlns:r="http://schemas.openxmlformats.org/officeDocument/2006/relationships" id="266" r:id="R08f7716845d24e00"/>
    <p:sldId xmlns:r="http://schemas.openxmlformats.org/officeDocument/2006/relationships" id="267" r:id="R77d7ba17410e4794"/>
    <p:sldId xmlns:r="http://schemas.openxmlformats.org/officeDocument/2006/relationships" id="268" r:id="R269aec575f054949"/>
    <p:sldId xmlns:r="http://schemas.openxmlformats.org/officeDocument/2006/relationships" id="269" r:id="R6894c6249cec4c9d"/>
    <p:sldId xmlns:r="http://schemas.openxmlformats.org/officeDocument/2006/relationships" id="270" r:id="R673535a378b141d1"/>
    <p:sldId xmlns:r="http://schemas.openxmlformats.org/officeDocument/2006/relationships" id="271" r:id="R1a9404ea82e24ee6"/>
    <p:sldId xmlns:r="http://schemas.openxmlformats.org/officeDocument/2006/relationships" id="272" r:id="Ra3a4ce13d3f8404c"/>
    <p:sldId xmlns:r="http://schemas.openxmlformats.org/officeDocument/2006/relationships" id="273" r:id="R2ce2864b10f044ca"/>
    <p:sldId xmlns:r="http://schemas.openxmlformats.org/officeDocument/2006/relationships" id="274" r:id="R6220d31fccaa464c"/>
    <p:sldId xmlns:r="http://schemas.openxmlformats.org/officeDocument/2006/relationships" id="275" r:id="R91e19c551606458a"/>
    <p:sldId xmlns:r="http://schemas.openxmlformats.org/officeDocument/2006/relationships" id="276" r:id="R8b9f8d48915e46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5497949c14408" /><Relationship Type="http://schemas.openxmlformats.org/officeDocument/2006/relationships/slideMaster" Target="/ppt/slideMasters/slideMaster1.xml" Id="R43ee60cef0c14c60" /><Relationship Type="http://schemas.openxmlformats.org/officeDocument/2006/relationships/notesMaster" Target="/ppt/notesMasters/notesMaster1.xml" Id="R828365b14fe74907" /><Relationship Type="http://schemas.openxmlformats.org/officeDocument/2006/relationships/presProps" Target="/ppt/presProps.xml" Id="R6f61e0c8a7b249f9" /><Relationship Type="http://schemas.openxmlformats.org/officeDocument/2006/relationships/tableStyles" Target="/ppt/tableStyles.xml" Id="Reb55d88cbe0d42cb" /><Relationship Type="http://schemas.openxmlformats.org/officeDocument/2006/relationships/slide" Target="/ppt/slides/slide1.xml" Id="Re21bbb869702465c" /><Relationship Type="http://schemas.openxmlformats.org/officeDocument/2006/relationships/slide" Target="/ppt/slides/slide2.xml" Id="Re0e92544d48245bc" /><Relationship Type="http://schemas.openxmlformats.org/officeDocument/2006/relationships/slide" Target="/ppt/slides/slide3.xml" Id="R9d3b148c32e44d4a" /><Relationship Type="http://schemas.openxmlformats.org/officeDocument/2006/relationships/slide" Target="/ppt/slides/slide4.xml" Id="R4ab69b4c66464b5d" /><Relationship Type="http://schemas.openxmlformats.org/officeDocument/2006/relationships/slide" Target="/ppt/slides/slide5.xml" Id="R0f449c12390e40e8" /><Relationship Type="http://schemas.openxmlformats.org/officeDocument/2006/relationships/slide" Target="/ppt/slides/slide6.xml" Id="Re91c195737174d4c" /><Relationship Type="http://schemas.openxmlformats.org/officeDocument/2006/relationships/slide" Target="/ppt/slides/slide7.xml" Id="R465852526f004311" /><Relationship Type="http://schemas.openxmlformats.org/officeDocument/2006/relationships/slide" Target="/ppt/slides/slide8.xml" Id="R28e87486d967400d" /><Relationship Type="http://schemas.openxmlformats.org/officeDocument/2006/relationships/slide" Target="/ppt/slides/slide9.xml" Id="Ra3b0db912d5b4e70" /><Relationship Type="http://schemas.openxmlformats.org/officeDocument/2006/relationships/slide" Target="/ppt/slides/slide10.xml" Id="R4694e456ccab4b85" /><Relationship Type="http://schemas.openxmlformats.org/officeDocument/2006/relationships/slide" Target="/ppt/slides/slide11.xml" Id="R08f7716845d24e00" /><Relationship Type="http://schemas.openxmlformats.org/officeDocument/2006/relationships/slide" Target="/ppt/slides/slide12.xml" Id="R77d7ba17410e4794" /><Relationship Type="http://schemas.openxmlformats.org/officeDocument/2006/relationships/slide" Target="/ppt/slides/slide13.xml" Id="R269aec575f054949" /><Relationship Type="http://schemas.openxmlformats.org/officeDocument/2006/relationships/slide" Target="/ppt/slides/slide14.xml" Id="R6894c6249cec4c9d" /><Relationship Type="http://schemas.openxmlformats.org/officeDocument/2006/relationships/slide" Target="/ppt/slides/slide15.xml" Id="R673535a378b141d1" /><Relationship Type="http://schemas.openxmlformats.org/officeDocument/2006/relationships/slide" Target="/ppt/slides/slide16.xml" Id="R1a9404ea82e24ee6" /><Relationship Type="http://schemas.openxmlformats.org/officeDocument/2006/relationships/slide" Target="/ppt/slides/slide17.xml" Id="Ra3a4ce13d3f8404c" /><Relationship Type="http://schemas.openxmlformats.org/officeDocument/2006/relationships/slide" Target="/ppt/slides/slide18.xml" Id="R2ce2864b10f044ca" /><Relationship Type="http://schemas.openxmlformats.org/officeDocument/2006/relationships/slide" Target="/ppt/slides/slide19.xml" Id="R6220d31fccaa464c" /><Relationship Type="http://schemas.openxmlformats.org/officeDocument/2006/relationships/slide" Target="/ppt/slides/slide20.xml" Id="R91e19c551606458a" /><Relationship Type="http://schemas.openxmlformats.org/officeDocument/2006/relationships/slide" Target="/ppt/slides/slide21.xml" Id="R8b9f8d48915e46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d6253bacb2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275ccad2242eb" /><Relationship Type="http://schemas.openxmlformats.org/officeDocument/2006/relationships/notesMaster" Target="/ppt/notesMasters/notesMaster1.xml" Id="R3e074bea96f84f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0783bdfa634336" /><Relationship Type="http://schemas.openxmlformats.org/officeDocument/2006/relationships/notesMaster" Target="/ppt/notesMasters/notesMaster1.xml" Id="Rc294bd5139474c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cd9fdf2a1d4a7c" /><Relationship Type="http://schemas.openxmlformats.org/officeDocument/2006/relationships/notesMaster" Target="/ppt/notesMasters/notesMaster1.xml" Id="R184d58265327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82a7188664b85" /><Relationship Type="http://schemas.openxmlformats.org/officeDocument/2006/relationships/notesMaster" Target="/ppt/notesMasters/notesMaster1.xml" Id="R92589fb4e61543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691adf3374bd4" /><Relationship Type="http://schemas.openxmlformats.org/officeDocument/2006/relationships/notesMaster" Target="/ppt/notesMasters/notesMaster1.xml" Id="R482542f2e1c849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7b5b174684463" /><Relationship Type="http://schemas.openxmlformats.org/officeDocument/2006/relationships/notesMaster" Target="/ppt/notesMasters/notesMaster1.xml" Id="R4e985042828b48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969fecb070430a" /><Relationship Type="http://schemas.openxmlformats.org/officeDocument/2006/relationships/notesMaster" Target="/ppt/notesMasters/notesMaster1.xml" Id="Rd38da1d836df4a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66ac081d034678" /><Relationship Type="http://schemas.openxmlformats.org/officeDocument/2006/relationships/notesMaster" Target="/ppt/notesMasters/notesMaster1.xml" Id="R462051dd37bd40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a57cf7766e435f" /><Relationship Type="http://schemas.openxmlformats.org/officeDocument/2006/relationships/notesMaster" Target="/ppt/notesMasters/notesMaster1.xml" Id="Rd664b82156424e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a21f150990421f" /><Relationship Type="http://schemas.openxmlformats.org/officeDocument/2006/relationships/notesMaster" Target="/ppt/notesMasters/notesMaster1.xml" Id="R20a31768575a41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1c5c38bae4433b" /><Relationship Type="http://schemas.openxmlformats.org/officeDocument/2006/relationships/notesMaster" Target="/ppt/notesMasters/notesMaster1.xml" Id="Rfed2792de21d4e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15a5d37d784a25" /><Relationship Type="http://schemas.openxmlformats.org/officeDocument/2006/relationships/notesMaster" Target="/ppt/notesMasters/notesMaster1.xml" Id="R59ccf4e86ee94d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9e4c5896cc4646" /><Relationship Type="http://schemas.openxmlformats.org/officeDocument/2006/relationships/notesMaster" Target="/ppt/notesMasters/notesMaster1.xml" Id="Rc3fb7c057d9645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4d51b516354aff" /><Relationship Type="http://schemas.openxmlformats.org/officeDocument/2006/relationships/notesMaster" Target="/ppt/notesMasters/notesMaster1.xml" Id="R8e08406a624c4a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72987b45af49d9" /><Relationship Type="http://schemas.openxmlformats.org/officeDocument/2006/relationships/notesMaster" Target="/ppt/notesMasters/notesMaster1.xml" Id="R2b1fc4dbabd641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5736dc01544eed" /><Relationship Type="http://schemas.openxmlformats.org/officeDocument/2006/relationships/notesMaster" Target="/ppt/notesMasters/notesMaster1.xml" Id="Rf0cee092fb9145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aaaf6e441a46c8" /><Relationship Type="http://schemas.openxmlformats.org/officeDocument/2006/relationships/notesMaster" Target="/ppt/notesMasters/notesMaster1.xml" Id="R6a090fe2a7f342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ec5cc8fe654be4" /><Relationship Type="http://schemas.openxmlformats.org/officeDocument/2006/relationships/notesMaster" Target="/ppt/notesMasters/notesMaster1.xml" Id="Re6d608fafa4e43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368020ac3746d8" /><Relationship Type="http://schemas.openxmlformats.org/officeDocument/2006/relationships/notesMaster" Target="/ppt/notesMasters/notesMaster1.xml" Id="R4713cb837d6544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ea43bb56bc4128" /><Relationship Type="http://schemas.openxmlformats.org/officeDocument/2006/relationships/notesMaster" Target="/ppt/notesMasters/notesMaster1.xml" Id="Re4109ba943284c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400b8502634d90" /><Relationship Type="http://schemas.openxmlformats.org/officeDocument/2006/relationships/notesMaster" Target="/ppt/notesMasters/notesMaster1.xml" Id="R5785d70ac57c44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визуального направления на базе Установка 2-го дня_ AI Product Hack.pptx. Использован Inter, светлый фон, крупный бледный номер, тонкие линии и плотная редакционная сетка. Оранжевый заменён на зелёный GS Labs. Зелёных заливок и чёрного текста на зелёном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проблемы выведены из текущего процесса: получить материал, понять значение для GS Labs и подготовить проверенный результат. Цена показана только там, где есть основание: 3–4 часа активной работы и качественные риски. Денежная оценка сознательно не выдумывается.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Существующие подходы закрывают отдельные части пути. GS Дайджест соединяет стабильный сбор, контекстный анализ и видимые основания, но сохраняет человеческое подтверждение перед выпуском и не принимает управленческое решение за PR, GR или руководство.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сравниваем одинаковую задачу: один период, одинаковые материалы и одинаковые требования к результату. Бенчмарки проверяют качество системы, а реальную экономию времени сможет подтвердить пилот с PR и GR.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Количество гипотез не задавалось заранее. Мы сформулировали только те утверждения, где результат не был гарантирован и проверка могла изменить продукт.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Целевой процесс сохраняет человека в точке контроля. Система не принимает управленческое решение и не публикует результат без подтверждения специалиста.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Продуктовые гипотезы появились из проблем пользователя. Технические и AI-гипотезы появились позже, когда целевой процесс показал несколько способов реализации одного этапа. Среди них сравнение моделей и промптов, одно- и двухэтапный AI-анализ, reasoning-поиск, AI-критик и дедубликация с embeddings. Требования без развилки в гипотезы не превращались.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соединяет две ветки гипотез с системой проверки. Продуктовые гипотезы появились из проблем, технические и AI-гипотезы из развилок TO-BE. B1–B4 дают отдельные среды для проверки разных уровней.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 проверяет технический сбор и единый контракт материалов. B2 использует размеченную корзину сложных случаев, чтобы сравнивать AI-модели и версии промптов. Результаты вынесены в следующий раздел отчёта.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B3 воспроизводит полный поток материалов во времени: от поступления до выпуска. Он проверяет взаимодействие всех частей системы на сценариях с разными источниками, состояниями, НПА, дублями, шумом и срочными сигналами.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B4 берёт замороженные результаты B3 и сравнивает их с оригиналами, контекстом GS Labs и заранее отмеченными обязательными сведениями. Он проверяет сохранность смысла и критичные содержательные ошибки. Результаты вынесены в следующий раздел отчёта.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Канонические EXP-ID взяты из доказательного пакета. B1 содержит четыре инженерных эксперимента, B2 пять AI-проверок. Колонка «Закрывает» отличает гипотезы A1/A4/A5 от обязательных контрактов и проверок стабильности.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B3 проверяет не отдельные промпты, а совместную работу агента. Здесь закрываются H1, A2, A3, часть H4 и обязательные E2E/NPA-контракты. Для каждой строки указан конкретный сценарий или масштабный набор.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B4 закрывает содержательную часть H2–H5 относительно Context Truth Pack. EXP-B4-01 и EXP-B4-06 проверяют сам метод оценки и не выдаются за отдельные продуктовые гипотезы.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команды не было доступа к полноценному пользовательскому пилоту. Поэтому мы заранее зафиксировали Context Truth Pack на базе кейса, чата, созвона, Excel и исследования GS Labs. B1–B4 последовательно проверяют сбор, AI-анализ, полный процесс и соответствие результата этой истине. Мы не выдаём симуляцию за пользовательскую обратную связь.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показывает итоговый технический контур и происхождение каждого решения. B1 определил контракт и режим сборщиков. B2 выбрал one-pass GLM без постоянного critic. B3 оставил целевой асинхронный доресерч и embeddings top-20. B4 определил общую очередь с фильтрами, risk-based review, событийную модель и короткий верхний слой.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Вставить один крупный финальный скриншот рабочей очереди. На нём должны читаться общий поток, фильтры PR/GR, приоритет, источник и основание оценки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Вставить два финальных скриншота одинакового визуального веса: экран события и экран НПА. Не добавлять вокруг них дополнительные карточки.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Вставить один крупный финальный скриншот подготовки выпуска. На нём должны читаться выбранные материалы, возможность редактирования и действие подтверждения.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Таблица отделяет реализованную основу от следующих направлений развития. Интеграции с ГАРАНТом и КонсультантПлюс расширяют покрытие и экспертный контекст НПА, но официальный источник остаётся основанием для статуса документа.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результат проекта: работающий контур от источников до подтверждённого выпуска. Его архитектура основана на четырёх бенчмарках и двадцати одном эксперименте. Содержательное качество проверено относительно зафиксированного контекста GS Labs, а решение о важности и выпуске остаётся за специалистом.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23fadb737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89d8927ef8449d" /><Relationship Type="http://schemas.openxmlformats.org/officeDocument/2006/relationships/slideLayout" Target="/ppt/slideLayouts/slideLayout1.xml" Id="R8c9986911dd94e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986911dd94e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eefd28beb463d" /><Relationship Type="http://schemas.openxmlformats.org/officeDocument/2006/relationships/image" Target="/ppt/media/image.png" Id="Rf2e450d429074c03" /><Relationship Type="http://schemas.openxmlformats.org/officeDocument/2006/relationships/image" Target="/ppt/media/image2.png" Id="R321f7834a9db41be" /><Relationship Type="http://schemas.openxmlformats.org/officeDocument/2006/relationships/image" Target="/ppt/media/image3.png" Id="R4e3a71e4b3544a5f" /><Relationship Type="http://schemas.openxmlformats.org/officeDocument/2006/relationships/notesSlide" Target="/ppt/notesSlides/notesSlide1.xml" Id="R7b59b9f92a7642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c5606535a4bb0" /><Relationship Type="http://schemas.openxmlformats.org/officeDocument/2006/relationships/image" Target="/ppt/media/image4.png" Id="Rf9ba3ac0c1c54567" /><Relationship Type="http://schemas.openxmlformats.org/officeDocument/2006/relationships/image" Target="/ppt/media/image5.png" Id="R645e1ddc167940e2" /><Relationship Type="http://schemas.openxmlformats.org/officeDocument/2006/relationships/image" Target="/ppt/media/image6.png" Id="R7d29db7299b1444d" /><Relationship Type="http://schemas.openxmlformats.org/officeDocument/2006/relationships/notesSlide" Target="/ppt/notesSlides/notesSlide2.xml" Id="R333e78539968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e3e1819584b88" /><Relationship Type="http://schemas.openxmlformats.org/officeDocument/2006/relationships/image" Target="/ppt/media/image7.png" Id="R36d869b30f8e432f" /><Relationship Type="http://schemas.openxmlformats.org/officeDocument/2006/relationships/image" Target="/ppt/media/image8.png" Id="Rdc7a64bbd1074b65" /><Relationship Type="http://schemas.openxmlformats.org/officeDocument/2006/relationships/image" Target="/ppt/media/image9.png" Id="Ra6f256ecb2404db5" /><Relationship Type="http://schemas.openxmlformats.org/officeDocument/2006/relationships/notesSlide" Target="/ppt/notesSlides/notesSlide3.xml" Id="R290ca931d96e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3e84dd8ee4303" /><Relationship Type="http://schemas.openxmlformats.org/officeDocument/2006/relationships/notesSlide" Target="/ppt/notesSlides/notesSlide4.xml" Id="R33a62636bcad43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e4158f3584a65" /><Relationship Type="http://schemas.openxmlformats.org/officeDocument/2006/relationships/image" Target="/ppt/media/image10.png" Id="R0de629017db44d69" /><Relationship Type="http://schemas.openxmlformats.org/officeDocument/2006/relationships/image" Target="/ppt/media/image11.png" Id="Re7aab4b78ae64159" /><Relationship Type="http://schemas.openxmlformats.org/officeDocument/2006/relationships/image" Target="/ppt/media/image12.png" Id="Rd27df542cc634c0c" /><Relationship Type="http://schemas.openxmlformats.org/officeDocument/2006/relationships/notesSlide" Target="/ppt/notesSlides/notesSlide5.xml" Id="R053397d0b19a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2c83994b34734" /><Relationship Type="http://schemas.openxmlformats.org/officeDocument/2006/relationships/image" Target="/ppt/media/image13.png" Id="Refc72573719f4106" /><Relationship Type="http://schemas.openxmlformats.org/officeDocument/2006/relationships/image" Target="/ppt/media/image14.png" Id="Rcd84b5af2e42413e" /><Relationship Type="http://schemas.openxmlformats.org/officeDocument/2006/relationships/image" Target="/ppt/media/image15.png" Id="Re53d888a521e4df6" /><Relationship Type="http://schemas.openxmlformats.org/officeDocument/2006/relationships/notesSlide" Target="/ppt/notesSlides/notesSlide6.xml" Id="Re438d52f933d49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265dacf3c4333" /><Relationship Type="http://schemas.openxmlformats.org/officeDocument/2006/relationships/image" Target="/ppt/media/image16.png" Id="Re4fe78048e5943e3" /><Relationship Type="http://schemas.openxmlformats.org/officeDocument/2006/relationships/image" Target="/ppt/media/image17.png" Id="Rb88388ee814d4653" /><Relationship Type="http://schemas.openxmlformats.org/officeDocument/2006/relationships/image" Target="/ppt/media/image18.png" Id="R29836dafde754f52" /><Relationship Type="http://schemas.openxmlformats.org/officeDocument/2006/relationships/notesSlide" Target="/ppt/notesSlides/notesSlide7.xml" Id="R7e61ddd45f7d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b958b0fd542e5" /><Relationship Type="http://schemas.openxmlformats.org/officeDocument/2006/relationships/image" Target="/ppt/media/image19.png" Id="Rdd33a89cb6184e98" /><Relationship Type="http://schemas.openxmlformats.org/officeDocument/2006/relationships/image" Target="/ppt/media/image20.png" Id="Rf2759534bd614f49" /><Relationship Type="http://schemas.openxmlformats.org/officeDocument/2006/relationships/image" Target="/ppt/media/image21.png" Id="Re66bf6366f61437f" /><Relationship Type="http://schemas.openxmlformats.org/officeDocument/2006/relationships/notesSlide" Target="/ppt/notesSlides/notesSlide8.xml" Id="R050fc6d6c31c4e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386a5b7a74900" /><Relationship Type="http://schemas.openxmlformats.org/officeDocument/2006/relationships/image" Target="/ppt/media/image22.png" Id="R58ea96df77da4b0c" /><Relationship Type="http://schemas.openxmlformats.org/officeDocument/2006/relationships/image" Target="/ppt/media/image23.png" Id="R646f49e35b024428" /><Relationship Type="http://schemas.openxmlformats.org/officeDocument/2006/relationships/image" Target="/ppt/media/image24.png" Id="Rff7e8b61d598449b" /><Relationship Type="http://schemas.openxmlformats.org/officeDocument/2006/relationships/notesSlide" Target="/ppt/notesSlides/notesSlide9.xml" Id="R6b2e8fecae344e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9e276cc864760" /><Relationship Type="http://schemas.openxmlformats.org/officeDocument/2006/relationships/notesSlide" Target="/ppt/notesSlides/notesSlide10.xml" Id="R889dda31101442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003c1765340b0" /><Relationship Type="http://schemas.openxmlformats.org/officeDocument/2006/relationships/image" Target="/ppt/media/image25.png" Id="R3cf82e440b0c44c9" /><Relationship Type="http://schemas.openxmlformats.org/officeDocument/2006/relationships/image" Target="/ppt/media/image26.png" Id="Rf201d7188d784e1e" /><Relationship Type="http://schemas.openxmlformats.org/officeDocument/2006/relationships/image" Target="/ppt/media/image27.png" Id="R09412c737d364617" /><Relationship Type="http://schemas.openxmlformats.org/officeDocument/2006/relationships/notesSlide" Target="/ppt/notesSlides/notesSlide11.xml" Id="R07a4e04f16ba4f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67a881d804182" /><Relationship Type="http://schemas.openxmlformats.org/officeDocument/2006/relationships/notesSlide" Target="/ppt/notesSlides/notesSlide12.xml" Id="R352feed4e7bd4f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bc0bd6d6b4e18" /><Relationship Type="http://schemas.openxmlformats.org/officeDocument/2006/relationships/notesSlide" Target="/ppt/notesSlides/notesSlide13.xml" Id="Rae62cfec35064f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916e6af9641fc" /><Relationship Type="http://schemas.openxmlformats.org/officeDocument/2006/relationships/notesSlide" Target="/ppt/notesSlides/notesSlide14.xml" Id="Rb344a90a4e0346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74e435af34d81" /><Relationship Type="http://schemas.openxmlformats.org/officeDocument/2006/relationships/notesSlide" Target="/ppt/notesSlides/notesSlide15.xml" Id="R7d1920a7728845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dc51c68345ef" /><Relationship Type="http://schemas.openxmlformats.org/officeDocument/2006/relationships/image" Target="/ppt/media/image28.png" Id="R502a00302d5249d7" /><Relationship Type="http://schemas.openxmlformats.org/officeDocument/2006/relationships/image" Target="/ppt/media/image29.png" Id="R9c502bb93cd6496e" /><Relationship Type="http://schemas.openxmlformats.org/officeDocument/2006/relationships/image" Target="/ppt/media/image30.png" Id="R19ac6caf4aad4dc3" /><Relationship Type="http://schemas.openxmlformats.org/officeDocument/2006/relationships/notesSlide" Target="/ppt/notesSlides/notesSlide16.xml" Id="R45f8d74f45de42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49ac7df4b4670" /><Relationship Type="http://schemas.openxmlformats.org/officeDocument/2006/relationships/image" Target="/ppt/media/image31.png" Id="R0d6da2d97fe74b09" /><Relationship Type="http://schemas.openxmlformats.org/officeDocument/2006/relationships/image" Target="/ppt/media/image32.png" Id="Rbb1e3ea964c240d1" /><Relationship Type="http://schemas.openxmlformats.org/officeDocument/2006/relationships/image" Target="/ppt/media/image33.png" Id="Rbb59a9c0ffaf4cf8" /><Relationship Type="http://schemas.openxmlformats.org/officeDocument/2006/relationships/notesSlide" Target="/ppt/notesSlides/notesSlide17.xml" Id="R580a33acd98b4c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78cdf8f442c0" /><Relationship Type="http://schemas.openxmlformats.org/officeDocument/2006/relationships/image" Target="/ppt/media/image34.png" Id="Rb6c17d8a180a4556" /><Relationship Type="http://schemas.openxmlformats.org/officeDocument/2006/relationships/image" Target="/ppt/media/image35.png" Id="R9f139dc411c34a10" /><Relationship Type="http://schemas.openxmlformats.org/officeDocument/2006/relationships/image" Target="/ppt/media/image36.png" Id="R2efaf51a7c9a4ea4" /><Relationship Type="http://schemas.openxmlformats.org/officeDocument/2006/relationships/notesSlide" Target="/ppt/notesSlides/notesSlide18.xml" Id="Ref54dea7812049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5fdfa5ad24b8e" /><Relationship Type="http://schemas.openxmlformats.org/officeDocument/2006/relationships/image" Target="/ppt/media/image37.png" Id="R67689cee0e764738" /><Relationship Type="http://schemas.openxmlformats.org/officeDocument/2006/relationships/image" Target="/ppt/media/image38.png" Id="Ra61cd1f29b9b4895" /><Relationship Type="http://schemas.openxmlformats.org/officeDocument/2006/relationships/image" Target="/ppt/media/image39.png" Id="R78c03e2fe4f84207" /><Relationship Type="http://schemas.openxmlformats.org/officeDocument/2006/relationships/notesSlide" Target="/ppt/notesSlides/notesSlide19.xml" Id="R1b4b4595937441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3216c2c9b4920" /><Relationship Type="http://schemas.openxmlformats.org/officeDocument/2006/relationships/image" Target="/ppt/media/image40.png" Id="R5ef47887c9934d50" /><Relationship Type="http://schemas.openxmlformats.org/officeDocument/2006/relationships/image" Target="/ppt/media/image41.png" Id="R6375fa306a4743a9" /><Relationship Type="http://schemas.openxmlformats.org/officeDocument/2006/relationships/image" Target="/ppt/media/image42.png" Id="R2cbfc739816a42f7" /><Relationship Type="http://schemas.openxmlformats.org/officeDocument/2006/relationships/notesSlide" Target="/ppt/notesSlides/notesSlide20.xml" Id="R18d1a513a1a247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52aeef2b34a78" /><Relationship Type="http://schemas.openxmlformats.org/officeDocument/2006/relationships/image" Target="/ppt/media/image43.png" Id="R0d4899fdbe0e4290" /><Relationship Type="http://schemas.openxmlformats.org/officeDocument/2006/relationships/notesSlide" Target="/ppt/notesSlides/notesSlide21.xml" Id="Rcebec9bb801442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47DBAF-313D-407A-BA61-97F04BE8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Пользователи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450d429074c03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f7834a9db41be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a71e4b3544a5f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A8BE6-1850-475C-AD45-A45B47F3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6D57F-8C05-42A5-8A17-A1965361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C270A-42B3-4CD7-856F-DAC28308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6D8A6-2970-4B15-8449-DE04078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Отраслевые события, публичные риски и позиции компании в медиаполе.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B3186-F092-4FD3-B1A7-B0B74C3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66875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EAEEA-760D-4C57-B626-3488741D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GR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35719-1C52-4D89-A4B7-E571439B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90775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403F4-5D00-4315-8B81-5B9BADF7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90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НПА, государственные инициативы и изменения требований к компании.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B0281-1A13-4065-B61D-FA76A08A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66875"/>
            <a:ext cx="346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67DE9-10E6-44B2-BD51-12056893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8120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Руководитель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54A85-FA21-4698-8CDE-73149AA5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61D7E-0EB9-49F5-A61A-B69BF769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467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Подтверждённая повестка по общим критичным событиям.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1EE8C-490C-4B33-811E-1B63329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389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D7474-22D1-404E-90EF-A93E222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3–4 ЧАСА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CDBB6-86F6-44CF-89E2-7C1A16E9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24225"/>
            <a:ext cx="5114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ежедневно на мониторинг и подготовку результата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D9ED6-55A0-4888-8927-3A930F12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Текущий ручной процесс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F5989-9D2B-4886-83D1-93C0249B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91075"/>
            <a:ext cx="918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B3E7A-7697-4F90-996E-365D6B7C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58697-2C44-42F0-8B37-0360A9B8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A012C-5508-471D-8ABD-DEDF4BE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Обойти источники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278D0-0463-42F0-86EE-399D6E2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8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Сайты, Telegram, регуляторы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3A57D-E81C-462D-8900-8F5C1FE4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19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CC5DA-5FD4-4FC9-91A0-5325824D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053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AF920-CC7A-40C9-ADCA-355194D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62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Отобрать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16828-782C-40BD-A925-372DEE3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4768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8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Убрать шум, проверить дату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795EB-F4E9-4819-9A21-A666A4DB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19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C0CA3-3240-4234-8790-733822E2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053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BB460-52C6-47CD-889F-FFA092B4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62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Оценить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1EF9A-74C5-41E9-AFAA-C36CAA24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768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8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Важность, влияние, PR / GR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014820-1B02-4F97-8105-5E00F5B4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19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F67028-623A-4EE8-83D6-40C70D30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053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3E0402-C573-4023-993F-C5A7AED9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162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Сопоставить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D66B0A-0BFD-40CC-B72E-B985B988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4768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8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Дубли, события, версии НПА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EFF58-E69B-4FE6-892A-3896BE2A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619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426C74-EC46-47FA-B9A0-ED97F14E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7053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97AAA6-E0F5-4FE2-BA34-D1DB048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62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Подготовить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764C4D-0E68-4D98-8D32-C32AC7E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768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8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Excel, итоговый материал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1CE6CA-2C80-4DA0-B82B-0CCC939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579D3E-44A0-49FC-A3C9-E2246610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Источники: кейс · чат с кейсодателем · расшифровка · Excel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6903DF-7A7C-42A0-B0C0-3FB5AB0B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01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51526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07AA9D-A517-4900-9F62-53CCA396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Корневые проблемы и их цена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a3ac0c1c54567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e1ddc167940e2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9db7299b1444d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99B8C-6094-461A-A039-D33DB930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P1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FE0FF-9BCD-4BB9-BE6C-DDFC7512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Собрать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A5F8E-8E4D-4FF9-9B69-7211EA5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D2853-7E40-4A4C-9C0C-C0239318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Материалы распределены между сайтами, Telegram, RSS, поиском и ресурсами регуляторов.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E874E-9BAC-499F-BA6E-DEB8D8D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552C2-0EDB-47A1-A342-40690184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Нужен постоянный ручной обход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2D234-7C07-4AF0-BF24-2922ABA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DEB71-A81B-4BB5-BD5C-CAD334F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Полнота сбора не гарантирована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807D9-F1EE-405D-B767-2BDCB45A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804FD-2A49-4B4C-BC4E-CB739010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2402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Понять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AFD01-10E2-4AE1-950B-21557621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288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9A5CB-3223-48B3-B6E3-96DBE25D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479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Каждый материал нужно оценить в контексте GS Labs и определить его значение для PR или GR.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DB049-17F3-48F8-93D3-6C821284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C9D32-8107-49C5-9DFA-82C454B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Релевантность и важность определяются вручную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B0F7B-ABD7-4BD1-BDD2-5F87F3F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7B75B-7D5B-4153-9F32-5A7341C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242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Факты и последствия требуют перепроверки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20B20-70F5-4DA8-934D-DF5B284A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52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A8ACE-76E5-4332-B3A6-EDFCCC5F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24025"/>
            <a:ext cx="3467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Подготовить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39238-3AAA-4EE3-99F4-5D199F88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28850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CAB33-AA3C-4AF2-8964-30F200A2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46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Публикации, разные позиции и стадии НПА нужно объединить, сократить и адресовать получателю.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A1E0E-205E-4252-AEA4-840DA871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FA38B-6EFB-461B-9D99-0E3360AC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670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Повторная работа с дублями и версиями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44511-4F9B-47D4-A978-207C9684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42836-AAA8-480A-8C19-9EC06A3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Риск потерять факт или перенести неподтверждённый вывод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3973F-A709-415C-BE09-D25FFD1E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466850"/>
          </a:xfrm>
          <a:prstGeom xmlns:a="http://schemas.openxmlformats.org/drawingml/2006/main" prst="roundRect">
            <a:avLst>
              <a:gd name="adj" fmla="val 5844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F2030A-15C9-47B5-BBA6-90700D73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Цена текущего процесса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C71C2-A2A0-474B-9E84-BABDCE05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3–4 часа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86287-6120-48C7-8595-EA12CC7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активной работы в день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A15D30-0694-4EF3-8268-DB1D53F3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1435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Пропуск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2C984B-443F-40A2-9E9F-52C8880D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46735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критичного материала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CB47F-55B5-4280-985C-D5CDDB0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435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Повторная работа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00A5C4-ED69-48CA-AC3B-F78B3877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с дублями и проверкой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CDBE7-444C-49AC-908F-24F4463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435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Ошибка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5E147-BAF3-4796-96FF-F1C854BF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6735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неподтверждённый вывод в результате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781B56-AFDE-4671-B916-7F8F484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688637-8C11-4534-96A1-1ADB856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Денежную цену не оцениваем: заказчик не предоставил исходные данные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6EB793-D0E3-41B1-BFB9-EDE223E2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02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988735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F2D82B-96F8-4E76-8626-14A8B92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Что делает система и что остаётся человеку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869b30f8e432f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a64bbd1074b65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256ecb2404db5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7B6A1-7851-404E-BDC6-27E50118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Подход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00876-0A31-4521-AE36-A55F000B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257300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Стабильный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сбор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CEFEF-BF62-4334-A262-C176BE66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257300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Контекст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GS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870B1-F336-44EC-B995-1FDF6CCA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57300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Факты 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источники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D6199-2C6B-46C1-A0A8-B9F2D49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573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Контроль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человека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550E9-951E-4055-B7CF-70511B6E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E5D98-C921-40E7-909C-DA62E73D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DEDFF-6715-4A96-804C-5C94719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122EB-7ADD-45D7-B25D-0EDEA0F0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9547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805DE-BDD8-42E6-BEA8-11D321D9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9547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вручную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56B4A-8C45-4B98-ABAC-854ED1B6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9547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частично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B177F-E109-44B4-BD84-3DD07F97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9547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CD194-02FF-4290-9FE5-13BC3B5F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6EC75-20AF-450D-9BFD-8D4C581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Агрегатор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9B40D-9C37-4589-AC56-801E7DA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3840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91CD2-353B-450C-B719-6EAF6E54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3840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84E73-5557-4D1B-8931-9D6865D6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ссылки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049E04-152E-4D36-B187-330FD9B3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384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после выдачи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70DB5-9158-4984-AAB4-6FDC929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38F52-DAFA-4BD3-ADF2-0C2D61F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Простой дайджест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4730E-374D-4CBD-9ADE-9C3CA370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8132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частично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CB7B0-214F-4E6C-8BED-0C466CC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8132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частично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EE401-4A7E-49B2-88AE-EA448AF6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8132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5E3BA-143E-4F3D-BA4C-D747C83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8132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после выдачи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3BA16-F77C-44D9-80A6-56AE2252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10D1C-B2B7-4353-9DB4-DA5CBB99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Только поиск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8575F-B25C-4E9D-9A44-A1C1CDD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2425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FEEC1-42E5-4705-A6AD-ABEF712E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2425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частично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770AF4-88CB-4D06-848A-49BA585F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ссылки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D358D-518D-4665-B487-F6C5EA2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242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после выдачи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C709AB-A4C2-424C-9DD5-64610161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F3B404-92DA-4374-89A1-576A8093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Автономный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A99112-F2EE-48C8-A19C-599C7586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6717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частично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56618E-DF3E-4F97-93E7-768C9CBA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6717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да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1CF244-ADC7-44A0-BB61-96373C3A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67175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 всегда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CA4DF5-EB13-43EB-B2AB-AC366A1D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6717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461EF5-59BE-478D-9CCE-5F31A7C1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7D68BA-11AE-46D0-B231-4F383846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17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GS Дайджест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6484E2-E7BC-46F0-81AB-7E0C4FB5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1010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да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27FCC5-7D35-4AE1-9F8E-1CA22F0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61010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да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D4E9B7-7E94-4643-AAB5-7CABDBCF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010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да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E60D23-2A7C-47CC-9110-A22D0A5F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101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до выпуска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4C2483-8560-4289-8EC0-C15062D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3009900" cy="3895725"/>
          </a:xfrm>
          <a:prstGeom xmlns:a="http://schemas.openxmlformats.org/drawingml/2006/main" prst="roundRect">
            <a:avLst>
              <a:gd name="adj" fmla="val 2848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246A61-4CDC-4F8B-8DB6-E06DEA3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049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Граница решения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D0EB61-0FA2-4E50-8EF3-7CC08709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383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СИСТЕМА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6CE55A-A939-4098-96C0-81199762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53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Собирает материалы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Оценивает значение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Показывает факты и источники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Готовит выпуск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E21197-1F44-496C-980F-B3DF473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6235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707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2BBFF9-EC1E-4786-87A9-C34D9D9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00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ЧЕЛОВЕК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9B601D-3F2A-4A1A-85B4-54DF6C6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95750"/>
            <a:ext cx="2533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Проверяет спорное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Подтверждает выпуск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Принимает решение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494148-A1D9-4434-9A6A-ADBB2718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57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GS Дайджест собирает и структурирует информацию. PR и GR проверяют результат и решают, что делать дальше.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FB7C57-087F-4A46-AA2C-AD9FD3B6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C6D47D-9120-440D-BE5C-C515AC88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Сравнение отражает границы подходов, а не рейтинг отдельных продуктов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E02DFC-DB08-4CDF-8C28-39D408FC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03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282446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469AC-BD0F-4C0C-889C-970C3178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Главная ценностная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00F22-F94D-46BF-BB24-5638971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A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64C2F-9F60-4894-BB0F-A7B17428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04  ·  GS ДАЙДЖЕСТ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1D208-A867-42AC-936D-8A6A504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3–4 ЧАСА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89C34-AEA5-4B75-A362-917B1A8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занимают ежедневный мониторинг и подготовка результата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FECC8-CAA9-4C73-BCB0-6CF98D34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304925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0505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C914B-F046-4B02-97BD-898F5373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3827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PR И GR ПРОВЕРЯЮТ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ГОТОВЫЙ ЧЕРНОВИК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F9BE2-5FD2-4708-9688-D4C902F2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вместо повторного сбора, анализа и упаковки материалов вручную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6F487-76F3-4766-881B-64CE370C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25252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5F54F-039F-447D-8606-7B191547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Но ускорение имеет смысл только при сохранении качества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72B45-F403-47A3-B50F-65BB6C04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EBB95-E58E-4F30-B6D6-D1D0B51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не потерять важный сигнал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8CE0F-BF44-46B3-B0C7-60161581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339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7493A-7AD7-412D-9DAC-B7F2BF6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053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не добавить неподтверждённый факт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FF6DE-1459-4A80-931E-B784137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339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9C6C8-0990-4469-9A38-12A5047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053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оставить понятные источники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11915-10C3-41BB-850A-1BDE9372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Экономию времени подтвердит пилот с PR и GR</a:t>
            </a:r>
          </a:p>
        </p:txBody>
      </p:sp>
    </p:spTree>
    <p:extLst>
      <p:ext uri="{BB962C8B-B14F-4D97-AF65-F5344CB8AC3E}">
        <p14:creationId xmlns:p14="http://schemas.microsoft.com/office/powerpoint/2010/main" val="1197712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2EC58-23FD-4AE3-8E0D-827CFA6E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Пять продуктовых гипотез: что проверяли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629017db44d69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ab4b78ae64159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df542cc634c0c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76865-15D1-40AB-A1E6-5D12DA8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247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0" b="1">
                <a:solidFill>
                  <a:srgbClr val="E1E2E7"/>
                </a:solidFill>
                <a:latin typeface="Inter"/>
                <a:ea typeface="Inter"/>
                <a:cs typeface="Inter"/>
              </a:defRPr>
            </a:pPr>
            <a:r>
              <a:rPr sz="16500" b="1">
                <a:solidFill>
                  <a:srgbClr val="E1E2E7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1EFDD-406F-4724-8801-D06081D1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В каждом варианте есть риск потерять важное или добавить лишнюю работу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C1DDA-6CE1-4FDE-BAE9-811BE11E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001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48835-F582-4A69-8EB4-59B788F1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209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BC6AA-79A8-4454-A037-82F92FAD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811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Дополнительный LLM-поиск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B740C-846A-47B9-8666-FE889994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81100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Если RSS, Telegram и сайты не дают полного ответа, поиск найдёт недостающие материалы без неприемлемого шума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BEB99-0914-4319-884C-BA592C27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62175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B1CFD-EA2A-4040-B203-C36FB369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3F5D-7527-4CBE-B868-0E0901C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Проверять только спорное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9F8CE-BFA6-4063-AE6D-84E9B50A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AI отметит сомнительные и критичные материалы, чтобы специалист не перепроверял всё подряд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DEDED-1565-4885-AE7D-471C5C1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242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560FE-9F65-4CFA-BB93-53D2FA2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33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1AF-13AE-4250-A5A0-045BD870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Одно событие вместо дублей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5C780-3E1F-41FF-9A35-9016E1A5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Несколько публикаций станут одной карточкой, но ссылки, новые факты и разные позиции сохранятся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F8D17-002B-4A7B-A001-855BC7E7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86225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4DCD5-CCE4-446A-A86C-1BD9BE4D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17A60-E09E-47DC-B7D1-937F87C4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671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Общая очередь с фильтрами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987AE-B535-4A08-9500-324A2DB2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67175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PR и GR увидят общее критичное, а фильтры покажут материалы для конкретной роли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0063D-528D-42DF-BBF3-196F7E5D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482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85C25-62FC-4CA3-AE79-0245BD85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57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508EB-9B24-4B30-8D7C-0BF97012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29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Короткая итоговая повестка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04FD3-DD54-44B2-B804-7EFDA1CC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Получатель сначала увидит несколько главных событий, но сможет открыть детали и источники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5A643-58D7-44D8-9099-568125C6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038850"/>
            <a:ext cx="815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Их пять, потому что именно в этих пяти решениях был содержательный риск и проверка могла изменить продукт.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0DDCC-9FA7-4D87-8D2E-5822DBD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1315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A69804-16FF-484E-A3C6-1351B2BB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Целевой процесс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72573719f4106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4b5af2e42413e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d888a521e4df6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CF64D-98E2-4D9F-9A5A-209D4C82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Система выполняет повторяемую работу.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Специалист контролирует результат.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B8AB2-EF9C-47B8-A236-D715FF48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CB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E3560-F85D-49CB-98A1-CFF31843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47690-417D-40EF-8CD7-3AA4338B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5AEE9-918B-46FA-A1EC-0957F43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576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Собрать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346CF-CDA8-41EB-8123-15F18E7D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B3990-2D26-49BD-A45E-51350276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AEF2F-3D62-44B9-89AF-B8FC1EA8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Выделить важное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7DCDF-E291-4184-834B-9A6182C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C7B66-5A97-4003-A6FB-9F6D5C77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33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B9F4E-AA90-4D6D-8B19-D6E46FFB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Найти недостающие факты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7DA88-1D8E-454C-AF05-26DB78C6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36262-88C6-4EFE-884C-AC23B5DF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33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51004-1624-401A-87AF-807B67D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576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Объединить повторы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DAD43-9F7B-4F3D-B026-59E20AAF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49154-3269-468E-B7EB-CCF18D6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1B10B-C2F1-4552-BAF2-1D1B608B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576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Показать специалисту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CC6CE-EB6C-433D-8AB2-4405F9A1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094E4-B3BB-4808-A635-8BE5B74C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43D21-F0E1-412F-9A25-6DFF250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576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Подготовить выпуск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5C12C-C07D-491F-A7D1-EC2E2EB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09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429D1-CBC3-46C5-BCB4-CA7BD5EE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33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DA24C-B77C-416D-BA58-A749CCC2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576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Доставить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8785E-A94D-4250-9B67-BF430F6D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82867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C259B-209C-4005-AF72-33557320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8275"/>
            <a:ext cx="1036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Человек проверяет спорное, подтверждает выпуск и принимает решение вне системы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3F57E-C58C-446D-88AD-DEE2CD2A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0DE71-6E53-441D-844E-24C13812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06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978283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D5C94-A74E-4319-A35A-E452196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От TO-BE к техническим и AI-гипотезам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e78048e5943e3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388ee814d4653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36dafde754f52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6A4F3-5D2E-474F-8895-FD0FA782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37623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226D2-5472-4DAF-BF55-CC6AC167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TO-BE ЗАДАЛ ЭТАПЫ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D20C4-7E07-4218-846D-BE43A446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66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Сбор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AI-анализ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Дополнительный поиск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Связи и НПА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Проверка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Выпуск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6C07B-4F25-4C4A-A96E-B14F355F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Процесс обязателен.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Способ реализации можно сравнить.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F1EE4-6FF7-4667-8959-CF9CA28F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04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ВНУТРИ ЭТАПОВ ПОЯВИЛИСЬ РАЗВИЛКИ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FE159-A980-4243-94E4-6663F9FD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 · Анализ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9957D-1A55-401A-BB1C-49DFEE85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один общий промпт или два последовательных AI-этапа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CCE60-0ADC-43D2-8A41-8B6E648D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5270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69487-1137-4CC6-BA9C-275B179C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43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 · Доресерч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7FBF2-82E3-4A2C-92A2-27F1249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reasoning-модель с поиском всегда или только при нехватке сведений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D0C94-E385-4A2A-B363-0080FB3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CA492-E410-4196-BB67-343054FA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861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 / TECH ·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0D163-6D3B-423B-95F3-36D38D2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отдельный AI-критик или проверка формата и цитат кодом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9862F-7320-4A0B-A698-2D493BF0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3860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58BBB-388C-4F19-9CAC-7FF4FC18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291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 · Дедубликация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19C51-925F-467E-B6C1-44A47C7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весь архив в LLM или embeddings находят похожие записи, а LLM решает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00939-86CF-452F-804F-8DB15B41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815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41379-3D8C-4319-AD85-5620B057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 · Модель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400FA-A7DD-4C44-98D3-9EF96698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GLM, DeepSeek и GPT-OSS на одной размеченной корзине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3DF5B-B972-4085-A09F-DF0B1CE3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0550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4C586-1CF8-4009-8A8E-F49435A2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76950"/>
            <a:ext cx="690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Гипотезами стали только развилки, где результат проверки мог изменить архитектуру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FF3D5-CD55-41E0-B975-B30F21AF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07D74-D799-438D-AF0C-AB459AA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07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953829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74F10E-3B87-4260-B941-DD23486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От гипотез к системе проверки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3a89cb6184e98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59534bd614f49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bf6366f61437f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45992-B5E6-4C7C-A242-1CFC2BB2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ДВА ИСТОЧНИКА ГИПОТЕЗ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35BDC-31B6-4FE8-8145-8ECD44B3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D7BDA-F47F-40AB-965F-17FBCE92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Проблемы текущего процесса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D42F6-69C7-46B3-8BFE-75916680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Продуктовые гипотезы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A0CC3-CAE8-4B1F-9C02-5153930C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6B95D-47EB-4937-909D-A6D06C11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Развилки внутри TO-BE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6895F-022A-447A-861A-5F3C0664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Технические и AI-гипотезы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CD7E7-C235-4FD3-9CA8-DC0D2A41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98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DDFC1-1576-489D-8426-A804738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814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6E8CD-73AF-403C-A8F7-F520AA1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9512E-F6A2-4FFA-8C56-07EA70EA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573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ЭКСПЕРИМЕНТЫ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8D981-76D8-49AB-AAE5-65E53C0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063D6-69B5-407B-BF78-BAFD2A4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Сравнить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варианты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CB400-A0C1-4978-B54D-50C94FCA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17B9D-5E6A-4C79-A26A-907C0A8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ГДЕ ПРОВЕРЯЕМ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E6A81-FFED-4C5D-8051-E575E31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34D55-FA8D-41FF-8724-B9B2D02E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049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Сбор и устойчивость источников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238E6-23F1-449A-85E5-48BF69C1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B92F8-620C-45B8-8D4C-A1B6D90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979A2-D71F-442C-A5F6-799C1D9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812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AI-модели, промпты и отдельные задачи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E0F96-4096-4FFB-8045-15B2ACBF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DEAC38-3D28-4751-B1DD-BB4C3565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4639B-534B-4AE4-8318-438B7342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Полный процесс в реалистичных сценариях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536D7-6F00-4AF4-A89B-CB91FCE4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A7515-F002-4488-9D40-85D5715E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97A1B-F3F4-4554-9782-C030F542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Содержание итогового результата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4969FA-AC54-44A3-8A1A-6F29924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Один эксперимент может проходить несколько уровней проверки: от отдельного компонента до итогового результата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1E162-B939-4AEA-98AE-61E9953A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420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279C5-886D-4ECE-8BBF-5A8FD29E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Бенчмарки 1–2: сбор и AI-анализ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72D24-D594-4EB6-A36F-4D4A56F7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609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4373F-64EA-4418-AAF5-3D079273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БЕНЧМАРК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D2AC3-AEEA-4338-B6B3-D38D5725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Получение материалов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из разных источников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D2A8E-C6DC-4984-A8C4-99957D5E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RSS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C2003-975A-4C77-8F51-129E9D62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00350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новые записи, даты и ссылки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BF041-6F26-4A5A-BF45-353F5110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86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41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5D4F3-D19B-4BB7-A275-7839506C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Telegram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D936D-8CAF-4D39-B2E8-966CAD8D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4802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посты и вложенные ссылки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C4467-6014-46FD-BE90-ECCBFF85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86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41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9F3E2-5AEB-4CD9-8A6D-60620CE7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Сайты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A2003-B52D-47CA-A1DA-8E179F13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95700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страницы и карты сайта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B0FBF-C833-4268-9E13-36D20506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486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414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02BEA-EA59-4C0D-95C0-49244ED3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Открытые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AAF2E-2FF0-4AB0-A9B6-CE3A30B1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433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структурированные обновления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49BD2-8B16-4810-9E07-19B0E46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86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41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F2102-18C1-46DA-9C75-3C3A4F4A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LLM-поиск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3100F-2B86-4229-94A2-86F951AD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91050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дополнительные результаты поиска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F708F-21AA-498A-B5EF-C86139AA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486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414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371F0-3D70-4931-BF96-04D4C1FB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ПРОВЕРЯЕТ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13BBF-AC33-450F-A75D-02BBE8A5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Полноту, скорость, повторы, даты и корректную обработку сбоев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2C305-B929-4390-A2B2-808747A4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БЕНЧМАРК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49041-C6C2-4BF4-9CE0-ACAAE171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2880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AI-сценарии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и улучшение промптов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70282-FE27-471C-A596-749E7354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ВНУТРИ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AFA4D-BF66-4ED3-BB2C-163E52C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Размеченные новости, события, НПА, дубли, шум и материалы с неопределённостью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0881B-99B8-4A48-A52F-0DCF98BE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928FD-E7CA-45FC-87C3-0D78E647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ПРОВЕРЯЕТ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F09903-1E73-44EE-9589-A413584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Отбор, важность, роли PR/GR, фактическую точность, краткое изложение и объединение публикаций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B730AD-F8AC-4447-B57F-3AF7D80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10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НУЖЕН, ЧТОБЫ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CC3D9D-1DC8-4F16-AEDF-9B5AE9CC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721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сравнивать модели и улучшать промпты на одинаковых примерах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6DB4D-E034-4425-B418-50216385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885E2-F8E9-4F14-B279-FF7FDB6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09  ·  GS ДАЙДЖЕСТ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a96df77da4b0c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f49e35b024428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e8b61d598449b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429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D8DD2E-B320-4DB0-8051-ACC88B92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Бенчмарк 3: E2E-сценарии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92FB8-3B8D-4CAE-8DD6-4F1B6C53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A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C162-A094-4BF6-8173-9847A2B2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10  ·  GS ДАЙДЖЕСТ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0F6BB-E886-4853-B23E-9782B566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Сценарии воспроизводят полный путь материала от поступления до выпуска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2EA1B-542B-462D-9B1F-EC205CEF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ВЕСЬ ПУТЬ СИСТЕМЫ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CDB90-AB2A-41ED-9FF0-F225D355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A5A6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3635F-F7D6-4B37-84AF-A76A6AD8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BEDF5-1F11-4918-B25D-7714D86E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Новый поток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BD90A-85D9-4859-BB93-84CCD438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4312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F975D-9FD7-41CD-8A5C-07074FF0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Анализ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8F002-5CF6-467B-8E89-39925AC2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37789-2B54-4640-AD3D-C1DEAF4B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События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C49D1-EF89-4B4D-B15B-84F495D2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11226-457B-44DC-B448-A1E55F43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НПА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5F743-4BDA-4CCC-9DDF-B629C8B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F5C0B-F019-4920-A9B3-8619F45F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B8089-2804-4E36-B17D-51F15D12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4312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3B02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62B9C-9CEF-43CF-98FF-E22C3AC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67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Выпуск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EEA03-2C1F-4D44-B85C-EB6DD418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ЧТО ЕСТЬ В СЦЕНАРИЯХ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1E947-3FF3-4080-9B1F-9A12B314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C9CBD2"/>
                </a:solidFill>
                <a:latin typeface="Inter"/>
                <a:ea typeface="Inter"/>
                <a:cs typeface="Inter"/>
              </a:rPr>
              <a:t>ИСТОЧНИКИ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50CD8-7133-4859-AD0E-9B7D8AA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RSS, Telegram, сайты, API и дополнительный поиск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5150A-775A-477F-A1F6-4E28BA51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43375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A5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9543B-BFFC-459E-81FE-4CDF74D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C9CBD2"/>
                </a:solidFill>
                <a:latin typeface="Inter"/>
                <a:ea typeface="Inter"/>
                <a:cs typeface="Inter"/>
              </a:rPr>
              <a:t>СОСТОЯНИЯ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E70CD-25B2-448A-94FF-8CEAC64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Новое событие, обновление НПА и уже известный материал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AF01A-483A-4F0E-B01E-78387209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A5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49766-0031-4AE2-A33B-F81B0FFD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C9CBD2"/>
                </a:solidFill>
                <a:latin typeface="Inter"/>
                <a:ea typeface="Inter"/>
                <a:cs typeface="Inter"/>
              </a:rPr>
              <a:t>СЛОЖНЫЕ СЛУЧАИ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1AC03-1F0C-426C-8605-D1FDECDF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Дубли, шум, противоречия и срочные сигналы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473A45-BA21-4088-AE9B-18BD169F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D3348-1647-40BA-90BC-AF533710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B722D-8967-479C-8B97-68B5C4EB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6262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Материал должен пройти весь путь, сохранить связи и попасть в правильный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72337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BBDEF-3BE4-46F2-ADAF-44E2347A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Бенчмарк 4: проверка содержания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2e440b0c44c9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1d7188d784e1e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12c737d364617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1E41E-A711-447E-9A7D-4B9B448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Проверяет не внутреннее устройство системы, а качество итогового результата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64CB1-0131-4056-8EE2-BA851EE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НА ВХОДЕ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5790D-DC5F-49C9-97C0-EF4207AE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Исходные материалы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79232-1B99-45B9-B384-3C15685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Контекст GS Labs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18DBD-1BF2-452B-A44C-35F25E80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Заранее отмеченные обязательные сведения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06323-85A9-4B8F-8A05-F0F0A26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56902-AAD9-4A9B-B303-9711BEE5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СРАВНИВАЕМ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AB77C-D26E-4FD8-9FE2-7070085E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Итоговые события, карточки НПА и материалы для выпуска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3B5E8-C1C8-4BB8-931C-8F7EC325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 оригиналами и ожидаемым содержанием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DA8A8-A642-4E0E-AA7D-A0B5476E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B02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7065B-16C1-43BA-A324-5BCD5AAE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404A8-0606-4D2B-A362-4AA1DF5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 потерялись ли факты, даты и разные позиции источников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A485D-F3F9-425E-91C8-CF606C4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Не появились ли выдуманные выводы или неверный статус НПА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F6DAC-9D8F-4514-BE42-2CBA0B72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57263-9E25-41EB-9BD1-76951CE1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B4 нужен, чтобы проверить продуктовые гипотезы по содержанию до пилота с PR и GR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591BF-B69A-4E21-837E-6FFAB5EE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271DD-3B27-4FAC-A522-86D8CB7A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11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205489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D019B-4EB3-42A3-B355-056729B9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Эксперименты B1–B2: сбор и AI-анализ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CFBC4-76E7-401A-B264-7F12367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Девять проверок от контракта источников до выбора рабочего AI-контура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104900"/>
                <a:gridCol w="2714625"/>
                <a:gridCol w="2714625"/>
                <a:gridCol w="3162300"/>
              </a:tblGrid>
              <a:tr h="45529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EXP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ЗАКРЫВАЕТ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ЧТО ПРОВЕРЯЛИ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БЕНЧМАРК И СЦЕНАРИЙ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РЕШЕНИЕ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EXP-B1-C1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Контракт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Единый формат адаптеров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B1 · сохранённые ответы RSS, Telegram, сайтов и API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Единый контракт материалов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EXP-B1-C2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Надёжность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Повторы, состояние и отказы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B1 · повторный сбор, недоступность и восстановление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Идемпотентность и явный статус сбоя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EXP-B1-C3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Скорость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Параллельность 1 / 8 / 24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B1 · повтор одного набора входов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Одновременно 8 источников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EXP-B1-C4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Совместимость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Работа на реальных источниках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B1 · 44 активных входа всех типов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Адаптеры допущены в MVP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EXP-B2-01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A1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Один / два прохода анализа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B2 · одна проверочная корзина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Один проход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EXP-B2-02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A5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GLM / DeepSeek / GPT-OSS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B2 · одинаковый промпт и набор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GLM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EXP-B2-03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A4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Без / с отдельным AI-критиком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B2 · проверочная корзина и защитные ошибки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Без критика, проверки кодом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EXP-B2-04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Контракт НПА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Документ / связь / стадия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B2 · отдельный набор сложных НПА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Короткие операции и проверка спорного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EXP-B2-05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Стабильность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Три запуска после заморозки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B2 · 27 новых материалов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Черновик требует подтверждения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3C9FE-736F-4F4F-A401-431FC99A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B90AB-4227-407A-AEBA-416A3143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12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8306733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2D197-8609-43F4-B4AA-3493A0C0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Эксперименты B3: полный контур и масштаб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AEBB2-BABD-4077-9778-CF40C19E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Шесть проверок показывают, как выбранные компоненты работают вместе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104900"/>
                <a:gridCol w="2714625"/>
                <a:gridCol w="2714625"/>
                <a:gridCol w="3162300"/>
              </a:tblGrid>
              <a:tr h="65042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EXP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ЗАКРЫВАЕТ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ЧТО ПРОВЕРЯЛИ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БЕНЧМАРК И СЦЕНАРИЙ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РЕШЕНИЕ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EXP-B3-01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Полный процесс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Все этапы автоматического контура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B3 · поток во времени от входа до выпуска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Этапы работают совместно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EXP-B3-02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H1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Источники / поиск / постоянный гибрид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B3 · два одинаковых временных окна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Источники + целевой поиск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EXP-B3-03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A2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Без доресерча / целевой доресерч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B3 · важная новость, НПА и контроль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Асинхронно только при явном пробеле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EXP-B3-04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A3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Весь банк / embeddings top-20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B3-SCALE · банки 100 / 1 000 / 10 000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Embeddings top-20, затем GLM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EXP-B3-05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H4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Критичное внутри ролевой выдачи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B3 · сценарий ошибки адресации D1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Общее критичное ядро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EXP-B3-06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Контракт НПА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Завершение мониторинга НПА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B3 · дата действия и три версии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Архив без удаления истории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E0515-1417-4EF8-BB5B-2E9505F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C5E93-48D9-48CE-A033-01E6F9F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13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3242056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A112F-1702-45F5-A12A-20AEA0E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Эксперименты B4: продуктовая выдача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85AA9-21F7-4EC8-9969-CD3974E0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Шесть проверок сверяют результат с контекстом GS Labs и оригинальными материалами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104900"/>
                <a:gridCol w="2714625"/>
                <a:gridCol w="2714625"/>
                <a:gridCol w="3162300"/>
              </a:tblGrid>
              <a:tr h="650421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EXP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ЗАКРЫВАЕТ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ЧТО ПРОВЕРЯЛИ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БЕНЧМАРК И СЦЕНАРИЙ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РЕШЕНИЕ</a:t>
                      </a:r>
                    </a:p>
                  </a:txBody>
                  <a:tcPr marL="95250" marR="76200" marT="76200" marB="57150" anchor="ctr">
                    <a:solidFill>
                      <a:srgbClr val="171719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EXP-B4-01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Метод оценки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Зафиксированный эталон контекста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B4 · исходник / ожидаемое / результат для 18 объектов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Единая истина проверки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EXP-B4-02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H2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Проверять всё / только риски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B4 · одинаковые выходы и размеченные ошибки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Проверять рискованное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EXP-B4-03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H3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Публикации / события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B4 · дубли, микрофакты и разные позиции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События с сохранением источников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EXP-B4-04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H4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Строгие роли / общая очередь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B4 · эталон ролей и общее критичное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Общая очередь с фильтрами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EXP-B4-05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H5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Полный поток / короткая повестка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B4 · обязательные и критичные факты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Короткий слой с раскрытием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EXP-B4-06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Метод оценки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LLM-судья / ручная сверка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B4 · 18 итоговых объектов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Ручная сверка исходника с результатом</a:t>
                      </a:r>
                    </a:p>
                  </a:txBody>
                  <a:tcPr marL="95250" marR="76200" marT="57150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4967A-4ECD-4C63-A003-183FD0BC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1B5A0-BD4D-46DD-B6A2-D054F3CF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14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114628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75CA5-442E-4C4E-8B14-016DF01D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Что именно подтвердили B1–B4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A3D53-24D7-41F8-95CC-90B5BD2C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Проверка опирается на зафиксированный эталон контекста GS Labs и заранее определённые ожидаемые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16F12-D961-4BEE-9F7E-6175E92E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4EEC0-0174-4869-85E9-80793A9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71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Получение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51D47-985C-4908-98FD-21E8C69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5D2C0-3C34-4347-BA99-60FBE892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RSS, Telegram, сайты, API и поиск приводятся к единому формату с датой, ссылкой и источником.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9309D-51EF-4C44-8F1B-8A4DF5B3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2B115-9336-4C2C-85ED-5E72BE7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71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AI-анализ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8E807-5A45-49E8-9148-29FCE971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C8F57-3C63-4F5B-A071-F9E5C98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Выбранный контур извлекает сигналы, сохраняет подтверждающие фрагменты и явно отмечает неопределённость.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0B097-C447-4171-B465-162184BA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2005A-EFEB-48A1-9EFC-553C37F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Полный процесс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4AD1F-7147-4596-AF04-F286BA3E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E30C7-F1A7-4524-BC65-CBC3DFC3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Сценарии проходят путь от входного потока до событий, НПА, рабочей очереди и выпуска.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1BFEF-3216-4536-A67B-7248B7A3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33940-41B5-4EA5-9199-D894084C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62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Соответствие контексту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CB230-24E5-48D3-BDD2-8983B180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FF001-CE5E-4512-BABA-74D45CC1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719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Итог сверяется с эталоном контекста, оригиналами и ожидаемым содержанием каждого сценария.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F3696-A306-4208-82BD-1B3DAF2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6"/>
          </a:solidFill>
          <a:ln xmlns:a="http://schemas.openxmlformats.org/drawingml/2006/main" w="19050">
            <a:solidFill>
              <a:srgbClr val="43B02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27248-6218-4533-B802-52BC1D6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Граница доказательства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D6756-BBDF-4092-AD1E-0BD202E7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149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B1–B4 подтвердили работу системы на контексте GS Labs, исходных материалах и заранее определённых ожидаемых результатах.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A0B62-C6E0-4BD6-AD0C-D8654B5E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A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44A76-EDA4-4C99-8414-467A55C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15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20051784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B9C5B2-F0BA-426C-94D9-69CAFE5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Итоговая архитектура после экспериментов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a00302d5249d7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02bb93cd6496e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6caf4aad4dc3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7795F-30C7-48A7-942C-EE21F667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Каждый блок контура связан с экспериментом, который определил его итоговую форму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22144-C155-4249-AB1E-B15F9EB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FAD31-E563-423C-B465-44B77E1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D291D-A70F-4E84-92C5-394C7A0C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E3EA-9F59-460D-9315-342E3377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ПЕРВИЧНЫЙ СБОР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8886F-C6CA-4F9F-B10F-485C9B7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RawDocument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76853-86A6-4FF0-9F43-713CA66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RSS, Telegram, сайты,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16F9-E5B7-4E6A-812A-A131F47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829A9-8BD9-437D-B86C-CE0B9121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Единый контракт · 8 источников параллельно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157D1-B855-4EC2-B62E-3450EB2A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B1-C1…C4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60447-A027-4EA6-8C91-1A72D871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3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E6E9F-7FB2-404D-8A39-61C536B7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24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C47A1-D1EB-4EB3-B44C-27AC920C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AI-АНАЛИЗ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E2EB9-8873-4D31-859B-BD70B6A2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SignalDraft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67528-6DB3-4440-AA77-FBF1B59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Один проход GLM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11C9F-384E-4A9D-95C4-6ECB280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814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0422B-5616-40F3-891D-D9422A16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Цитаты и схема проверяются кодом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69BA4-0CCB-495A-9FBD-14EE0E7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B2-01…03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A258F-8D81-488B-9FAE-B7F834BB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7921F-4215-4B61-B822-DE574202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24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6C3B3-37E3-43A3-8AF1-E0190FAB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ДОРЕСЕРЧ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9DE7E-AE92-4B06-93C7-C7E1D8D5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ResearchEvidence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8BB501-744B-461D-A685-CA243E5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Tavily по явному пробелу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E4D21-3697-4974-B179-0357C15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3D0F7-A627-4030-87A3-129FC7AC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719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Асинхронно · только high / critical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68730-5943-4446-B08A-743FCFF4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B3-03 · A2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0BB34D-1B1F-4E6B-B577-EE36A6E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0357A0-9151-4A2A-9ECB-5653DD8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24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F9E3E7-E7E5-4C2E-9B8B-444A7549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СВЯЗЫВАНИЕ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BD22E-718C-437B-96F9-E786EEC9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Event / NPA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D7D4F-E71A-41D8-803B-B8FA6807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Embeddings top-20 + GLM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AD9A8-E259-4D25-B3E5-F7AFF78E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814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B02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BF4EC4-1C3A-43A1-8E07-AC72EA9E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719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События, версии и стадии НПА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E66D39-D547-4028-8E64-946C24E7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B2-04 · B3-04/06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7803E2-B6DA-4C65-86EB-B30D4957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AACBF3-1A4A-4101-83CD-6E0E1F90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24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430F39-583D-4651-AED2-EC3E7FF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РАБОЧАЯ ОЧЕРЕДЬ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197378-4ED9-4518-95A6-A7253E9D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ReviewItem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6286F2-9BBF-482A-A8B6-354039D4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Общая очередь PR и GR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C28E84-EAE9-41C8-9877-D958290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0683AD-CDAC-4DCC-8CD5-01E9A9E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719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Фильтры ролей · проверка рисков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47EECB-0370-484C-B001-682717A9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B3-05 · B4-02/04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B8D05B-8B4E-4706-812D-E03C852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38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58E597-B833-4EC2-B3A9-1BEDBEA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2402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2DF26A-08F2-42AE-9DD0-02FB13E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ВЫПУСК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0115E1-6CEA-4A22-B347-EA66E386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DigestRelease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AC0BEB-3C0D-4E60-83DD-B39163A0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051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Короткая повестка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C6302F-D018-402E-ABC9-1AC00FD0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8142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8CEB12-A4F4-4FCA-B71C-2BD20407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719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Раскрываемые источники · срочный сигнал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F1036D-BBA3-40E3-83E2-1A0AFC33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B4-03/05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ABD671-5721-42BF-8BF8-5C884B7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A5850F-C34E-45BC-94AE-FDF32FBD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ОБЩАЯ ОСНОВА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DD9EBA-BBEC-4D76-9845-570B51F4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149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Оригиналы и ссылки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6B0D91-4AB4-480C-B4D8-AC7A0A8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149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Контекст GS Labs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C62046-2A50-473E-AC18-CAE58FA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14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Версии промптов и моделей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2D7D14-E3ED-4872-90E0-BF84FAA0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История изменений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35E08D-EE6C-433B-81B5-98DC94E4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1497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Метрики вызовов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BE0831-AE54-49AB-87C5-A67B03F9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94D30B-B05B-4ACC-B365-827F49CC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16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41061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7EEDF-BE0D-4964-93FA-F172EC41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Рабочая очередь PR и GR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da2d97fe74b09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e3ea964c240d1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9a9c0ffaf4cf8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96B79-9164-490F-B922-D6B2294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Общая очередь, ролевые фильтры, приоритет и основания оценки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FAD24-8E69-44E8-9ECF-12C44169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A3238-3E0C-42E8-A2D5-8C37FA80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МЕСТО ДЛЯ ФИНАЛЬНОГО СКРИНШОТА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A0EB1-26F1-48AE-9B09-A061B59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480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Рабочая очередь · фильтры PR/GR · карточка материала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06221-821F-423C-BE6F-D3D4E282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F1DB0-5992-472B-9952-70DCBFFC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17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176087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3DC9B-3BF0-4E2F-A9CD-66729A03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События и НПА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17d8a180a4556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39dc411c34a10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af51a7c9a4ea4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513F9-9C43-44D7-A951-76014A45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895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Событие объединяет публикации, НПА сохраняет стадии и историю изменений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63B90-E38D-4387-8163-9319BA23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578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B55C9-529F-4BA8-AAA9-5C24058A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B6160-FE5E-41FC-B954-784DCE8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86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СКРИНШОТ СОБЫТИЯ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65255-8570-4CFE-A193-17C5FA4B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480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источники · позиции · объединённые факты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9D7E6-2627-4708-97D4-DD47EFE2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СКРИНШОТ НПА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0DEDD-D867-4619-8917-79E897EE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480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статус · версии · история изменений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AFA07-97BD-4CE6-93B5-5A1CF5DB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9DF0A-D36F-45E5-A741-17805F3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18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20887974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B96BC-7CD7-429D-BC04-C85AD3A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Подготовка и подтверждение выпуска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89cee0e764738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cd1f29b9b4895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03e2fe4f84207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C5501-986E-42A3-A898-32E2C362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Выбор материалов, редактирование порядка и подтверждение итоговой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0E6CD-C1E3-473D-9C80-CFF8784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97177-3446-4041-A7E7-B332F3EB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МЕСТО ДЛЯ ФИНАЛЬНОГО СКРИНШОТА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56BB2-2168-46ED-BBF4-720E2DB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480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сборка выпуска · подтверждение · канал доставки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98620-0226-4C81-8547-3828237B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E13E7-3568-40CD-BDE0-23700547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19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5083349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28C63-2F5C-46BB-B727-8274629E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Развитие и масштабирование продукта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47887c9934d50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5fa306a4743a9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fc739816a42f7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C81BD-B65C-40DA-8ECA-2DCE5D26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Развитие продолжает уже реализованный контур и не требует менять основу архитектуры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857625"/>
                <a:gridCol w="4924425"/>
              </a:tblGrid>
              <a:tr h="87249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НАПРАВЛЕНИЕ</a:t>
                      </a:r>
                    </a:p>
                  </a:txBody>
                  <a:tcPr marL="152400" marR="114300" marT="95250" marB="7620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УЖЕ В MVP</a:t>
                      </a:r>
                    </a:p>
                  </a:txBody>
                  <a:tcPr marL="152400" marR="114300" marT="95250" marB="76200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СЛЕДУЮЩЕЕ РАЗВИТИЕ</a:t>
                      </a:r>
                    </a:p>
                  </a:txBody>
                  <a:tcPr marL="152400" marR="114300" marT="95250" marB="76200" anchor="ctr">
                    <a:solidFill>
                      <a:srgbClr val="171719"/>
                    </a:solidFill>
                  </a:tcPr>
                </a:tc>
              </a:tr>
              <a:tr h="87249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Контекст GS Labs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Три профиля, версии и подтверждённые изменения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AI находит повторяющиеся решения PR/GR и предлагает обновления контекста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87249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Автоматизация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AI готовит черновик, специалист подтверждает важность и выпуск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Накопленная история позволяет сокращать ручную проверку для устойчивых сценариев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87249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НПА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Официальные источники, текущий статус и история версий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ГАРАНТ и КонсультантПлюс расширяют покрытие и добавляют экспертный контекст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  <a:tr h="87249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3B02A"/>
                          </a:solidFill>
                          <a:latin typeface="Inter"/>
                          <a:ea typeface="Inter"/>
                          <a:cs typeface="Inter"/>
                        </a:rPr>
                        <a:t>Масштаб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PR, GR, заданные источники и основные каналы доставки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719"/>
                          </a:solidFill>
                          <a:latin typeface="Inter"/>
                          <a:ea typeface="Inter"/>
                          <a:cs typeface="Inter"/>
                        </a:rPr>
                        <a:t>Новые подразделения, профили, источники и каналы доставки</a:t>
                      </a:r>
                    </a:p>
                  </a:txBody>
                  <a:tcPr marL="152400" marR="13335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883A8-ABDD-4FF0-B514-0C1C6DF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A4D56-13C8-40DA-B156-4473F72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20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6926855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899fdbe0e42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25D15-83F0-42C5-AD00-352022D2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Итог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069B2-CDA8-4331-BD18-C749742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287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От источников до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подтверждённой повестки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2980C-41C2-449D-87AF-CB3FD75B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9F0E8-E0DC-495E-A7C7-D96BEF13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Работающий процесс от сбора материалов до подтверждения выпуска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E6492-6252-48F1-ACC4-0F29E659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ДОКАЗАТЕЛЬСТВА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2A3AC-B9FF-4A3A-BB6F-06D41E8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814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Четыре бенчмарка и 21 эксперимент определили итоговую архитектуру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C0DCF-94D3-449D-861E-77E6CE90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101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ГРАНИЦА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002B9-8339-43A0-8E84-456541AD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9587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75" b="0">
                <a:solidFill>
                  <a:srgbClr val="C9CBD2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C9CBD2"/>
                </a:solidFill>
                <a:latin typeface="Inter"/>
                <a:ea typeface="Inter"/>
                <a:cs typeface="Inter"/>
              </a:rPr>
              <a:t>Качество проверено по контексту GS Labs. Важность и выпуск подтверждает специалист.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263DF-6815-4403-9C84-BF7F0DFA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4A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DBBA7-00BD-4CF5-9557-1F1C4A1C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43675"/>
            <a:ext cx="1981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21  ·  GS ДАЙДЖЕСТ</a:t>
            </a:r>
          </a:p>
        </p:txBody>
      </p:sp>
    </p:spTree>
    <p:extLst>
      <p:ext uri="{BB962C8B-B14F-4D97-AF65-F5344CB8AC3E}">
        <p14:creationId xmlns:p14="http://schemas.microsoft.com/office/powerpoint/2010/main" val="138552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2026-09-07T00:38:19.7820000Z</dcterms:created>
  <dcterms:modified xsi:type="dcterms:W3CDTF">2026-09-07T00:38:19.7820000Z</dcterms:modified>
</coreProperties>
</file>